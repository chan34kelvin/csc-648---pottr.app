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Montserrat"/>
      <p:regular r:id="rId47"/>
      <p:bold r:id="rId48"/>
      <p:italic r:id="rId49"/>
      <p:boldItalic r:id="rId50"/>
    </p:embeddedFont>
    <p:embeddedFont>
      <p:font typeface="Lato"/>
      <p:regular r:id="rId51"/>
      <p:bold r:id="rId52"/>
      <p:italic r:id="rId53"/>
      <p:boldItalic r:id="rId54"/>
    </p:embeddedFont>
    <p:embeddedFont>
      <p:font typeface="Work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regular.fntdata"/><Relationship Id="rId50" Type="http://schemas.openxmlformats.org/officeDocument/2006/relationships/font" Target="fonts/Montserrat-boldItalic.fntdata"/><Relationship Id="rId53" Type="http://schemas.openxmlformats.org/officeDocument/2006/relationships/font" Target="fonts/Lato-italic.fntdata"/><Relationship Id="rId52" Type="http://schemas.openxmlformats.org/officeDocument/2006/relationships/font" Target="fonts/Lato-bold.fntdata"/><Relationship Id="rId11" Type="http://schemas.openxmlformats.org/officeDocument/2006/relationships/slide" Target="slides/slide6.xml"/><Relationship Id="rId55" Type="http://schemas.openxmlformats.org/officeDocument/2006/relationships/font" Target="fonts/WorkSans-regular.fntdata"/><Relationship Id="rId10" Type="http://schemas.openxmlformats.org/officeDocument/2006/relationships/slide" Target="slides/slide5.xml"/><Relationship Id="rId54" Type="http://schemas.openxmlformats.org/officeDocument/2006/relationships/font" Target="fonts/Lato-boldItalic.fntdata"/><Relationship Id="rId13" Type="http://schemas.openxmlformats.org/officeDocument/2006/relationships/slide" Target="slides/slide8.xml"/><Relationship Id="rId57" Type="http://schemas.openxmlformats.org/officeDocument/2006/relationships/font" Target="fonts/WorkSans-italic.fntdata"/><Relationship Id="rId12" Type="http://schemas.openxmlformats.org/officeDocument/2006/relationships/slide" Target="slides/slide7.xml"/><Relationship Id="rId56" Type="http://schemas.openxmlformats.org/officeDocument/2006/relationships/font" Target="fonts/WorkSans-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Work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 TargetMode="External"/><Relationship Id="rId3" Type="http://schemas.openxmlformats.org/officeDocument/2006/relationships/hyperlink" Target="https://www.twitch.tv/" TargetMode="External"/><Relationship Id="rId4" Type="http://schemas.openxmlformats.org/officeDocument/2006/relationships/hyperlink" Target="https://www.tiktok.com/"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Damon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0723ae22c2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0723ae22c2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Hugh</a:t>
            </a:r>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Pottr is made up of many time-limited tournaments where users can submit a video game clip along with an entrance fee, which contributes to a “Competitor” prize pool.</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Other  Non-competitor users on Pottr are eligible to vote for submission(s), which then the top submissions with the largest number of votes receive some proportion of the “Competitor” pool,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0723ae22c2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0723ae22c2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Hugh</a:t>
            </a:r>
            <a:endParaRPr/>
          </a:p>
          <a:p>
            <a:pPr indent="0" lvl="0" marL="0" rtl="0" algn="l">
              <a:spcBef>
                <a:spcPts val="0"/>
              </a:spcBef>
              <a:spcAft>
                <a:spcPts val="0"/>
              </a:spcAft>
              <a:buNone/>
            </a:pPr>
            <a:r>
              <a:rPr lang="en"/>
              <a:t>PERSONA: </a:t>
            </a:r>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Joe, a college student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In his Free time, Joe likes to play competitive video games. Although he might not be that good, occasionally he gets moments where he pulls off an amazing play in the game.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He is able record the moment and wants to share it for other people to view and perhaps earn a bit of money off of it from the views.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Joe does wants a dedicated platform meant for video game clips where it won’t be drowned out from a plethora of other contents.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0723ae22c2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0723ae22c2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Hugh</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300" u="sng">
                <a:solidFill>
                  <a:srgbClr val="1155CC"/>
                </a:solidFill>
                <a:latin typeface="Calibri"/>
                <a:ea typeface="Calibri"/>
                <a:cs typeface="Calibri"/>
                <a:sym typeface="Calibri"/>
                <a:hlinkClick r:id="rId2">
                  <a:extLst>
                    <a:ext uri="{A12FA001-AC4F-418D-AE19-62706E023703}">
                      <ahyp:hlinkClr val="tx"/>
                    </a:ext>
                  </a:extLst>
                </a:hlinkClick>
              </a:rPr>
              <a:t>YouTube</a:t>
            </a:r>
            <a:endParaRPr b="1" sz="13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Free to post youtube videos </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Good explore algorithm </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Paid entry to competition can prevent low quality video spam </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You can vote with your wallet </a:t>
            </a:r>
            <a:endParaRPr>
              <a:latin typeface="Calibri"/>
              <a:ea typeface="Calibri"/>
              <a:cs typeface="Calibri"/>
              <a:sym typeface="Calibri"/>
            </a:endParaRPr>
          </a:p>
          <a:p>
            <a:pPr indent="0" lvl="0" marL="0" rtl="0" algn="l">
              <a:spcBef>
                <a:spcPts val="0"/>
              </a:spcBef>
              <a:spcAft>
                <a:spcPts val="0"/>
              </a:spcAft>
              <a:buNone/>
            </a:pPr>
            <a:r>
              <a:rPr b="1" lang="en" sz="1300" u="sng">
                <a:solidFill>
                  <a:srgbClr val="1155CC"/>
                </a:solidFill>
                <a:latin typeface="Calibri"/>
                <a:ea typeface="Calibri"/>
                <a:cs typeface="Calibri"/>
                <a:sym typeface="Calibri"/>
                <a:hlinkClick r:id="rId3">
                  <a:extLst>
                    <a:ext uri="{A12FA001-AC4F-418D-AE19-62706E023703}">
                      <ahyp:hlinkClr val="tx"/>
                    </a:ext>
                  </a:extLst>
                </a:hlinkClick>
              </a:rPr>
              <a:t>Twitch</a:t>
            </a:r>
            <a:endParaRPr b="1" sz="13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Is connected with your amazon account and can support creators as a feature if you already have amazon prime </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Already have twitch clips where you can pull highlights off of streams </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Easier access to find clips </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Only game specific content on our site </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Don’t need to spend hours a day streaming to earn revenue just post highlight clips will be enough </a:t>
            </a:r>
            <a:endParaRPr>
              <a:latin typeface="Calibri"/>
              <a:ea typeface="Calibri"/>
              <a:cs typeface="Calibri"/>
              <a:sym typeface="Calibri"/>
            </a:endParaRPr>
          </a:p>
          <a:p>
            <a:pPr indent="0" lvl="0" marL="0" rtl="0" algn="l">
              <a:spcBef>
                <a:spcPts val="0"/>
              </a:spcBef>
              <a:spcAft>
                <a:spcPts val="0"/>
              </a:spcAft>
              <a:buNone/>
            </a:pPr>
            <a:r>
              <a:rPr b="1" lang="en" sz="1300" u="sng">
                <a:solidFill>
                  <a:srgbClr val="1155CC"/>
                </a:solidFill>
                <a:latin typeface="Calibri"/>
                <a:ea typeface="Calibri"/>
                <a:cs typeface="Calibri"/>
                <a:sym typeface="Calibri"/>
                <a:hlinkClick r:id="rId4">
                  <a:extLst>
                    <a:ext uri="{A12FA001-AC4F-418D-AE19-62706E023703}">
                      <ahyp:hlinkClr val="tx"/>
                    </a:ext>
                  </a:extLst>
                </a:hlinkClick>
              </a:rPr>
              <a:t>TikTok</a:t>
            </a:r>
            <a:endParaRPr b="1" sz="13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Edit templates and tools to make clips more pleasing </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Streaming, allow donations if big fan base</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can post any type of content as long as it is pleasing.</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Competitions for increased user engagement</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Content is necessarily game-related higher quality</a:t>
            </a:r>
            <a:endParaRPr>
              <a:latin typeface="Calibri"/>
              <a:ea typeface="Calibri"/>
              <a:cs typeface="Calibri"/>
              <a:sym typeface="Calibri"/>
            </a:endParaRPr>
          </a:p>
          <a:p>
            <a:pPr indent="-298450" lvl="0" marL="457200" rtl="0" algn="l">
              <a:spcBef>
                <a:spcPts val="0"/>
              </a:spcBef>
              <a:spcAft>
                <a:spcPts val="0"/>
              </a:spcAft>
              <a:buSzPts val="1100"/>
              <a:buFont typeface="Calibri"/>
              <a:buChar char="●"/>
            </a:pPr>
            <a:r>
              <a:rPr lang="en">
                <a:latin typeface="Calibri"/>
                <a:ea typeface="Calibri"/>
                <a:cs typeface="Calibri"/>
                <a:sym typeface="Calibri"/>
              </a:rPr>
              <a:t>lower barrier of entry to earn revenue </a:t>
            </a:r>
            <a:endParaRPr>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0723ae22c2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0723ae22c2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Hugh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0723ae22c2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0723ae22c2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Hugh hands it over to Kelvin to do demo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use discord as a community group to post questions and resources to help one another. There each team member can track what has been done and what has yet to be completed to see how much left to complete each milestone. </a:t>
            </a:r>
            <a:endParaRPr/>
          </a:p>
          <a:p>
            <a:pPr indent="0" lvl="0" marL="0" rtl="0" algn="l">
              <a:spcBef>
                <a:spcPts val="0"/>
              </a:spcBef>
              <a:spcAft>
                <a:spcPts val="0"/>
              </a:spcAft>
              <a:buNone/>
            </a:pPr>
            <a:r>
              <a:rPr lang="en"/>
              <a:t>Now I would like to hand it to Kelvin to demonstrate the Demo of our app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0723ae22c2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0723ae22c2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Kelvin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083245f38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083245f38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083245f384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083245f384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83245f384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83245f384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083245f384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083245f384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083245f384_1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083245f384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083245f384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083245f384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083245f384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083245f384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083245f384_1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083245f384_1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083245f384_1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083245f384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083245f384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083245f384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083245f384_1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083245f384_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083245f384_1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083245f384_1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083245f384_1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083245f384_1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Chaoyi</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0858c68fb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0858c68fb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Steven</a:t>
            </a:r>
            <a:endParaRPr/>
          </a:p>
          <a:p>
            <a:pPr indent="0" lvl="0" marL="0" rtl="0" algn="l">
              <a:spcBef>
                <a:spcPts val="0"/>
              </a:spcBef>
              <a:spcAft>
                <a:spcPts val="0"/>
              </a:spcAft>
              <a:buNone/>
            </a:pPr>
            <a:r>
              <a:rPr lang="en">
                <a:solidFill>
                  <a:schemeClr val="dk1"/>
                </a:solidFill>
              </a:rPr>
              <a:t>Hello, I am Steven and I will be talking about the backend.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0879ac8be1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0879ac8be1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Steven</a:t>
            </a:r>
            <a:endParaRPr/>
          </a:p>
          <a:p>
            <a:pPr indent="0" lvl="0" marL="0" rtl="0" algn="l">
              <a:spcBef>
                <a:spcPts val="0"/>
              </a:spcBef>
              <a:spcAft>
                <a:spcPts val="0"/>
              </a:spcAft>
              <a:buNone/>
            </a:pPr>
            <a:r>
              <a:rPr lang="en"/>
              <a:t>I will be talking about how we designed the backend, how we developed it, and some of the hardships we went through when making it.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0879ac8be1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0879ac8be1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Steven</a:t>
            </a:r>
            <a:endParaRPr/>
          </a:p>
          <a:p>
            <a:pPr indent="0" lvl="0" marL="0" rtl="0" algn="l">
              <a:spcBef>
                <a:spcPts val="0"/>
              </a:spcBef>
              <a:spcAft>
                <a:spcPts val="0"/>
              </a:spcAft>
              <a:buNone/>
            </a:pPr>
            <a:r>
              <a:rPr lang="en"/>
              <a:t>For our design, we used the Model-View-Controller pattern as the design of our backend. We would have models to handle the interactions with the database, routes as controllers to interact with the models and views, and the frontend to handle the views.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0879ac8be1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0879ac8be1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Steven</a:t>
            </a:r>
            <a:endParaRPr/>
          </a:p>
          <a:p>
            <a:pPr indent="0" lvl="0" marL="0" rtl="0" algn="l">
              <a:spcBef>
                <a:spcPts val="0"/>
              </a:spcBef>
              <a:spcAft>
                <a:spcPts val="0"/>
              </a:spcAft>
              <a:buNone/>
            </a:pPr>
            <a:r>
              <a:rPr lang="en"/>
              <a:t>Some of the benefits of using a model-view-controller was that we were able to work on the models and routers at the same time. It also made it easier to debug the code. Finally, it made it easy to make small changes such as when Kelvin wanted the data for competitions to come with the data for categories.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0879ac8be1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0879ac8be1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Steven</a:t>
            </a:r>
            <a:endParaRPr/>
          </a:p>
          <a:p>
            <a:pPr indent="0" lvl="0" marL="0" rtl="0" algn="l">
              <a:spcBef>
                <a:spcPts val="0"/>
              </a:spcBef>
              <a:spcAft>
                <a:spcPts val="0"/>
              </a:spcAft>
              <a:buNone/>
            </a:pPr>
            <a:r>
              <a:rPr lang="en"/>
              <a:t>We developed the models by testing mysql queries in mysql workbench. For the routes we would test them using insomnia so make sure the routes were returning the data that we wanted. We implemented our models and routes in the order of what entities required which entities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0879ac8be1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0879ac8be1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of the hardships we had were getting code finished in time so our frontend devs could utilize the backend. Another one was deploying the code because we had trouble with nginx, cors and sessions because the frontend and backend were on different domains.</a:t>
            </a:r>
            <a:endParaRPr/>
          </a:p>
          <a:p>
            <a:pPr indent="0" lvl="0" marL="0" rtl="0" algn="l">
              <a:spcBef>
                <a:spcPts val="0"/>
              </a:spcBef>
              <a:spcAft>
                <a:spcPts val="0"/>
              </a:spcAft>
              <a:buNone/>
            </a:pPr>
            <a:r>
              <a:rPr lang="en"/>
              <a:t>Steven introduces Damon </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0723ae22c2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0723ae22c2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Damon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0723ae22c2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0723ae22c2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Damon introduces Alex for GitHub</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0723ae22c2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0723ae22c2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0858c68fbe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0858c68fbe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0858c68fb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0858c68fb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0858c68fbe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0858c68fb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a:p>
            <a:pPr indent="0" lvl="0" marL="0" rtl="0" algn="l">
              <a:spcBef>
                <a:spcPts val="0"/>
              </a:spcBef>
              <a:spcAft>
                <a:spcPts val="0"/>
              </a:spcAft>
              <a:buNone/>
            </a:pPr>
            <a:r>
              <a:rPr lang="en"/>
              <a:t>Source of truth is not actually singular, but needed consolidation to create a single source. Much of my job as github manager was working with the frontend and backend leads properly work with and merge branches.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0858c68fbe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0858c68fbe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a:p>
            <a:pPr indent="-298450" lvl="0" marL="457200" rtl="0" algn="l">
              <a:spcBef>
                <a:spcPts val="0"/>
              </a:spcBef>
              <a:spcAft>
                <a:spcPts val="0"/>
              </a:spcAft>
              <a:buSzPts val="1100"/>
              <a:buChar char="-"/>
            </a:pPr>
            <a:r>
              <a:rPr lang="en"/>
              <a:t>Tried to use Jira, defaulted back to GitHub</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0858c68fb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0858c68fb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0858c68fb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0858c68fb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0858c68fb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10858c68fb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0858c68fbe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0858c68fbe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0723ae22c2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0723ae22c2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0858c68fbe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0858c68fbe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a:p>
            <a:pPr indent="0" lvl="0" marL="0" rtl="0" algn="l">
              <a:spcBef>
                <a:spcPts val="0"/>
              </a:spcBef>
              <a:spcAft>
                <a:spcPts val="0"/>
              </a:spcAft>
              <a:buNone/>
            </a:pPr>
            <a:r>
              <a:rPr lang="en"/>
              <a:t>Another potential data flow: replace authentication with normal authentication, used deposited funds would be converted and used for prize money generation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0858c68fb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0858c68fb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0858c68fb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0858c68fb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22.png"/><Relationship Id="rId7" Type="http://schemas.openxmlformats.org/officeDocument/2006/relationships/image" Target="../media/image11.png"/><Relationship Id="rId8"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5.png"/><Relationship Id="rId8"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30.png"/></Relationships>
</file>

<file path=ppt/slides/_rels/slide18.xml.rels><?xml version="1.0" encoding="UTF-8" standalone="yes"?><Relationships xmlns="http://schemas.openxmlformats.org/package/2006/relationships"><Relationship Id="rId10" Type="http://schemas.openxmlformats.org/officeDocument/2006/relationships/image" Target="../media/image32.png"/><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image" Target="../media/image25.png"/><Relationship Id="rId7" Type="http://schemas.openxmlformats.org/officeDocument/2006/relationships/image" Target="../media/image23.png"/><Relationship Id="rId8"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8.png"/><Relationship Id="rId6"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37.png"/><Relationship Id="rId7"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39.xml.rels><?xml version="1.0" encoding="UTF-8" standalone="yes"?><Relationships xmlns="http://schemas.openxmlformats.org/package/2006/relationships"><Relationship Id="rId11" Type="http://schemas.openxmlformats.org/officeDocument/2006/relationships/image" Target="../media/image42.png"/><Relationship Id="rId10" Type="http://schemas.openxmlformats.org/officeDocument/2006/relationships/image" Target="../media/image39.png"/><Relationship Id="rId13" Type="http://schemas.openxmlformats.org/officeDocument/2006/relationships/image" Target="../media/image43.png"/><Relationship Id="rId12" Type="http://schemas.openxmlformats.org/officeDocument/2006/relationships/image" Target="../media/image41.png"/><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40.png"/><Relationship Id="rId5" Type="http://schemas.openxmlformats.org/officeDocument/2006/relationships/image" Target="../media/image4.png"/><Relationship Id="rId6" Type="http://schemas.openxmlformats.org/officeDocument/2006/relationships/image" Target="../media/image36.png"/><Relationship Id="rId7" Type="http://schemas.openxmlformats.org/officeDocument/2006/relationships/image" Target="../media/image29.png"/><Relationship Id="rId8"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13"/>
          <p:cNvPicPr preferRelativeResize="0"/>
          <p:nvPr/>
        </p:nvPicPr>
        <p:blipFill rotWithShape="1">
          <a:blip r:embed="rId3">
            <a:alphaModFix/>
          </a:blip>
          <a:srcRect b="5830" l="0" r="0" t="-5830"/>
          <a:stretch/>
        </p:blipFill>
        <p:spPr>
          <a:xfrm>
            <a:off x="-553850" y="2917475"/>
            <a:ext cx="2299401" cy="2299401"/>
          </a:xfrm>
          <a:prstGeom prst="rect">
            <a:avLst/>
          </a:prstGeom>
          <a:noFill/>
          <a:ln>
            <a:noFill/>
          </a:ln>
        </p:spPr>
      </p:pic>
      <p:sp>
        <p:nvSpPr>
          <p:cNvPr id="135" name="Google Shape;135;p13"/>
          <p:cNvSpPr txBox="1"/>
          <p:nvPr>
            <p:ph type="ctrTitle"/>
          </p:nvPr>
        </p:nvSpPr>
        <p:spPr>
          <a:xfrm>
            <a:off x="3605250" y="22155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POTTR.APP</a:t>
            </a:r>
            <a:endParaRPr>
              <a:latin typeface="Work Sans"/>
              <a:ea typeface="Work Sans"/>
              <a:cs typeface="Work Sans"/>
              <a:sym typeface="Work Sans"/>
            </a:endParaRPr>
          </a:p>
        </p:txBody>
      </p:sp>
      <p:sp>
        <p:nvSpPr>
          <p:cNvPr id="136" name="Google Shape;136;p13"/>
          <p:cNvSpPr txBox="1"/>
          <p:nvPr>
            <p:ph idx="1" type="subTitle"/>
          </p:nvPr>
        </p:nvSpPr>
        <p:spPr>
          <a:xfrm>
            <a:off x="3585725" y="1844925"/>
            <a:ext cx="8183700" cy="2568600"/>
          </a:xfrm>
          <a:prstGeom prst="rect">
            <a:avLst/>
          </a:prstGeom>
        </p:spPr>
        <p:txBody>
          <a:bodyPr anchorCtr="0" anchor="t" bIns="91425" lIns="91425" spcFirstLastPara="1" rIns="91425" wrap="square" tIns="91425">
            <a:normAutofit fontScale="92500" lnSpcReduction="20000"/>
          </a:bodyPr>
          <a:lstStyle/>
          <a:p>
            <a:pPr indent="0" lvl="0" marL="0" rtl="0" algn="l">
              <a:lnSpc>
                <a:spcPct val="150000"/>
              </a:lnSpc>
              <a:spcBef>
                <a:spcPts val="0"/>
              </a:spcBef>
              <a:spcAft>
                <a:spcPts val="0"/>
              </a:spcAft>
              <a:buNone/>
            </a:pPr>
            <a:r>
              <a:rPr b="1" lang="en" sz="2400">
                <a:latin typeface="Work Sans"/>
                <a:ea typeface="Work Sans"/>
                <a:cs typeface="Work Sans"/>
                <a:sym typeface="Work Sans"/>
              </a:rPr>
              <a:t>CSC-648-04 Team -01 </a:t>
            </a:r>
            <a:endParaRPr b="1" sz="2400">
              <a:latin typeface="Work Sans"/>
              <a:ea typeface="Work Sans"/>
              <a:cs typeface="Work Sans"/>
              <a:sym typeface="Work Sans"/>
            </a:endParaRPr>
          </a:p>
          <a:p>
            <a:pPr indent="0" lvl="0" marL="0" rtl="0" algn="l">
              <a:lnSpc>
                <a:spcPct val="150000"/>
              </a:lnSpc>
              <a:spcBef>
                <a:spcPts val="0"/>
              </a:spcBef>
              <a:spcAft>
                <a:spcPts val="0"/>
              </a:spcAft>
              <a:buNone/>
            </a:pPr>
            <a:r>
              <a:rPr lang="en" sz="1481">
                <a:solidFill>
                  <a:schemeClr val="lt1"/>
                </a:solidFill>
                <a:latin typeface="Work Sans"/>
                <a:ea typeface="Work Sans"/>
                <a:cs typeface="Work Sans"/>
                <a:sym typeface="Work Sans"/>
              </a:rPr>
              <a:t>He (Damon) Chen (Team Lead)</a:t>
            </a:r>
            <a:endParaRPr sz="1481">
              <a:solidFill>
                <a:schemeClr val="lt1"/>
              </a:solidFill>
              <a:latin typeface="Work Sans"/>
              <a:ea typeface="Work Sans"/>
              <a:cs typeface="Work Sans"/>
              <a:sym typeface="Work Sans"/>
            </a:endParaRPr>
          </a:p>
          <a:p>
            <a:pPr indent="0" lvl="0" marL="0" rtl="0" algn="l">
              <a:lnSpc>
                <a:spcPct val="150000"/>
              </a:lnSpc>
              <a:spcBef>
                <a:spcPts val="0"/>
              </a:spcBef>
              <a:spcAft>
                <a:spcPts val="0"/>
              </a:spcAft>
              <a:buNone/>
            </a:pPr>
            <a:r>
              <a:rPr lang="en" sz="1481">
                <a:solidFill>
                  <a:schemeClr val="lt1"/>
                </a:solidFill>
                <a:latin typeface="Work Sans"/>
                <a:ea typeface="Work Sans"/>
                <a:cs typeface="Work Sans"/>
                <a:sym typeface="Work Sans"/>
              </a:rPr>
              <a:t>Kelvin Chan (Fr</a:t>
            </a:r>
            <a:r>
              <a:rPr lang="en" sz="1481">
                <a:latin typeface="Work Sans"/>
                <a:ea typeface="Work Sans"/>
                <a:cs typeface="Work Sans"/>
                <a:sym typeface="Work Sans"/>
              </a:rPr>
              <a:t>ontend</a:t>
            </a:r>
            <a:r>
              <a:rPr lang="en" sz="1481">
                <a:solidFill>
                  <a:schemeClr val="lt1"/>
                </a:solidFill>
                <a:latin typeface="Work Sans"/>
                <a:ea typeface="Work Sans"/>
                <a:cs typeface="Work Sans"/>
                <a:sym typeface="Work Sans"/>
              </a:rPr>
              <a:t>)</a:t>
            </a:r>
            <a:endParaRPr sz="1481">
              <a:solidFill>
                <a:schemeClr val="lt1"/>
              </a:solidFill>
              <a:latin typeface="Work Sans"/>
              <a:ea typeface="Work Sans"/>
              <a:cs typeface="Work Sans"/>
              <a:sym typeface="Work Sans"/>
            </a:endParaRPr>
          </a:p>
          <a:p>
            <a:pPr indent="0" lvl="0" marL="0" rtl="0" algn="l">
              <a:lnSpc>
                <a:spcPct val="150000"/>
              </a:lnSpc>
              <a:spcBef>
                <a:spcPts val="0"/>
              </a:spcBef>
              <a:spcAft>
                <a:spcPts val="0"/>
              </a:spcAft>
              <a:buNone/>
            </a:pPr>
            <a:r>
              <a:rPr lang="en" sz="1481">
                <a:solidFill>
                  <a:schemeClr val="lt1"/>
                </a:solidFill>
                <a:latin typeface="Work Sans"/>
                <a:ea typeface="Work Sans"/>
                <a:cs typeface="Work Sans"/>
                <a:sym typeface="Work Sans"/>
              </a:rPr>
              <a:t>Steven Liao (</a:t>
            </a:r>
            <a:r>
              <a:rPr lang="en" sz="1481">
                <a:latin typeface="Work Sans"/>
                <a:ea typeface="Work Sans"/>
                <a:cs typeface="Work Sans"/>
                <a:sym typeface="Work Sans"/>
              </a:rPr>
              <a:t>Backend</a:t>
            </a:r>
            <a:r>
              <a:rPr lang="en" sz="1481">
                <a:solidFill>
                  <a:schemeClr val="lt1"/>
                </a:solidFill>
                <a:latin typeface="Work Sans"/>
                <a:ea typeface="Work Sans"/>
                <a:cs typeface="Work Sans"/>
                <a:sym typeface="Work Sans"/>
              </a:rPr>
              <a:t>)</a:t>
            </a:r>
            <a:endParaRPr sz="1481">
              <a:solidFill>
                <a:schemeClr val="lt1"/>
              </a:solidFill>
              <a:latin typeface="Work Sans"/>
              <a:ea typeface="Work Sans"/>
              <a:cs typeface="Work Sans"/>
              <a:sym typeface="Work Sans"/>
            </a:endParaRPr>
          </a:p>
          <a:p>
            <a:pPr indent="0" lvl="0" marL="0" rtl="0" algn="l">
              <a:lnSpc>
                <a:spcPct val="150000"/>
              </a:lnSpc>
              <a:spcBef>
                <a:spcPts val="0"/>
              </a:spcBef>
              <a:spcAft>
                <a:spcPts val="0"/>
              </a:spcAft>
              <a:buNone/>
            </a:pPr>
            <a:r>
              <a:rPr lang="en" sz="1481">
                <a:solidFill>
                  <a:schemeClr val="lt1"/>
                </a:solidFill>
                <a:latin typeface="Work Sans"/>
                <a:ea typeface="Work Sans"/>
                <a:cs typeface="Work Sans"/>
                <a:sym typeface="Work Sans"/>
              </a:rPr>
              <a:t>Chaoyi Ying (Frontend)</a:t>
            </a:r>
            <a:endParaRPr sz="1481">
              <a:solidFill>
                <a:schemeClr val="lt1"/>
              </a:solidFill>
              <a:latin typeface="Work Sans"/>
              <a:ea typeface="Work Sans"/>
              <a:cs typeface="Work Sans"/>
              <a:sym typeface="Work Sans"/>
            </a:endParaRPr>
          </a:p>
          <a:p>
            <a:pPr indent="0" lvl="0" marL="0" rtl="0" algn="l">
              <a:lnSpc>
                <a:spcPct val="150000"/>
              </a:lnSpc>
              <a:spcBef>
                <a:spcPts val="0"/>
              </a:spcBef>
              <a:spcAft>
                <a:spcPts val="0"/>
              </a:spcAft>
              <a:buNone/>
            </a:pPr>
            <a:r>
              <a:rPr lang="en" sz="1481">
                <a:solidFill>
                  <a:schemeClr val="lt1"/>
                </a:solidFill>
                <a:latin typeface="Work Sans"/>
                <a:ea typeface="Work Sans"/>
                <a:cs typeface="Work Sans"/>
                <a:sym typeface="Work Sans"/>
              </a:rPr>
              <a:t>Alex Chau (GitHub)</a:t>
            </a:r>
            <a:endParaRPr sz="1481">
              <a:solidFill>
                <a:schemeClr val="lt1"/>
              </a:solidFill>
              <a:latin typeface="Work Sans"/>
              <a:ea typeface="Work Sans"/>
              <a:cs typeface="Work Sans"/>
              <a:sym typeface="Work Sans"/>
            </a:endParaRPr>
          </a:p>
          <a:p>
            <a:pPr indent="0" lvl="0" marL="0" rtl="0" algn="l">
              <a:lnSpc>
                <a:spcPct val="150000"/>
              </a:lnSpc>
              <a:spcBef>
                <a:spcPts val="0"/>
              </a:spcBef>
              <a:spcAft>
                <a:spcPts val="0"/>
              </a:spcAft>
              <a:buNone/>
            </a:pPr>
            <a:r>
              <a:rPr lang="en" sz="1481">
                <a:solidFill>
                  <a:schemeClr val="lt1"/>
                </a:solidFill>
                <a:latin typeface="Work Sans"/>
                <a:ea typeface="Work Sans"/>
                <a:cs typeface="Work Sans"/>
                <a:sym typeface="Work Sans"/>
              </a:rPr>
              <a:t>Hugh Nguyen (</a:t>
            </a:r>
            <a:r>
              <a:rPr lang="en" sz="1481">
                <a:latin typeface="Work Sans"/>
                <a:ea typeface="Work Sans"/>
                <a:cs typeface="Work Sans"/>
                <a:sym typeface="Work Sans"/>
              </a:rPr>
              <a:t>Scrum Master</a:t>
            </a:r>
            <a:r>
              <a:rPr lang="en" sz="1481">
                <a:solidFill>
                  <a:schemeClr val="lt1"/>
                </a:solidFill>
                <a:latin typeface="Work Sans"/>
                <a:ea typeface="Work Sans"/>
                <a:cs typeface="Work Sans"/>
                <a:sym typeface="Work Sans"/>
              </a:rPr>
              <a:t>)</a:t>
            </a:r>
            <a:endParaRPr sz="1481">
              <a:solidFill>
                <a:schemeClr val="lt1"/>
              </a:solidFill>
              <a:latin typeface="Work Sans"/>
              <a:ea typeface="Work Sans"/>
              <a:cs typeface="Work Sans"/>
              <a:sym typeface="Work Sans"/>
            </a:endParaRPr>
          </a:p>
          <a:p>
            <a:pPr indent="0" lvl="0" marL="0" rtl="0" algn="l">
              <a:spcBef>
                <a:spcPts val="0"/>
              </a:spcBef>
              <a:spcAft>
                <a:spcPts val="0"/>
              </a:spcAft>
              <a:buNone/>
            </a:pPr>
            <a:r>
              <a:t/>
            </a:r>
            <a:endParaRPr>
              <a:latin typeface="Work Sans"/>
              <a:ea typeface="Work Sans"/>
              <a:cs typeface="Work Sans"/>
              <a:sym typeface="Work Sans"/>
            </a:endParaRPr>
          </a:p>
        </p:txBody>
      </p:sp>
      <p:pic>
        <p:nvPicPr>
          <p:cNvPr id="137" name="Google Shape;137;p13"/>
          <p:cNvPicPr preferRelativeResize="0"/>
          <p:nvPr/>
        </p:nvPicPr>
        <p:blipFill>
          <a:blip r:embed="rId3">
            <a:alphaModFix/>
          </a:blip>
          <a:stretch>
            <a:fillRect/>
          </a:stretch>
        </p:blipFill>
        <p:spPr>
          <a:xfrm>
            <a:off x="-553850" y="-832550"/>
            <a:ext cx="3404298" cy="3404298"/>
          </a:xfrm>
          <a:prstGeom prst="rect">
            <a:avLst/>
          </a:prstGeom>
          <a:noFill/>
          <a:ln>
            <a:noFill/>
          </a:ln>
        </p:spPr>
      </p:pic>
      <p:pic>
        <p:nvPicPr>
          <p:cNvPr id="138" name="Google Shape;138;p13"/>
          <p:cNvPicPr preferRelativeResize="0"/>
          <p:nvPr/>
        </p:nvPicPr>
        <p:blipFill>
          <a:blip r:embed="rId4">
            <a:alphaModFix/>
          </a:blip>
          <a:stretch>
            <a:fillRect/>
          </a:stretch>
        </p:blipFill>
        <p:spPr>
          <a:xfrm>
            <a:off x="459275" y="673125"/>
            <a:ext cx="2779176" cy="2779176"/>
          </a:xfrm>
          <a:prstGeom prst="rect">
            <a:avLst/>
          </a:prstGeom>
          <a:noFill/>
          <a:ln>
            <a:noFill/>
          </a:ln>
        </p:spPr>
      </p:pic>
      <p:pic>
        <p:nvPicPr>
          <p:cNvPr id="139" name="Google Shape;139;p13"/>
          <p:cNvPicPr preferRelativeResize="0"/>
          <p:nvPr/>
        </p:nvPicPr>
        <p:blipFill>
          <a:blip r:embed="rId4">
            <a:alphaModFix/>
          </a:blip>
          <a:stretch>
            <a:fillRect/>
          </a:stretch>
        </p:blipFill>
        <p:spPr>
          <a:xfrm rot="6991265">
            <a:off x="-515887" y="1626675"/>
            <a:ext cx="2779176" cy="2779176"/>
          </a:xfrm>
          <a:prstGeom prst="rect">
            <a:avLst/>
          </a:prstGeom>
          <a:noFill/>
          <a:ln>
            <a:noFill/>
          </a:ln>
        </p:spPr>
      </p:pic>
      <p:pic>
        <p:nvPicPr>
          <p:cNvPr id="140" name="Google Shape;140;p13"/>
          <p:cNvPicPr preferRelativeResize="0"/>
          <p:nvPr/>
        </p:nvPicPr>
        <p:blipFill>
          <a:blip r:embed="rId5">
            <a:alphaModFix/>
          </a:blip>
          <a:stretch>
            <a:fillRect/>
          </a:stretch>
        </p:blipFill>
        <p:spPr>
          <a:xfrm>
            <a:off x="1519050" y="4827000"/>
            <a:ext cx="6105876" cy="60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14"/>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146" name="Google Shape;146;p14"/>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147" name="Google Shape;147;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About our product </a:t>
            </a:r>
            <a:endParaRPr>
              <a:latin typeface="Work Sans"/>
              <a:ea typeface="Work Sans"/>
              <a:cs typeface="Work Sans"/>
              <a:sym typeface="Work Sans"/>
            </a:endParaRPr>
          </a:p>
        </p:txBody>
      </p:sp>
      <p:sp>
        <p:nvSpPr>
          <p:cNvPr id="148" name="Google Shape;148;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latin typeface="Work Sans"/>
                <a:ea typeface="Work Sans"/>
                <a:cs typeface="Work Sans"/>
                <a:sym typeface="Work Sans"/>
              </a:rPr>
              <a:t>Pottr is a novel video monetization platform that offers low-risk video game clip based competitions. </a:t>
            </a:r>
            <a:endParaRPr sz="2000">
              <a:latin typeface="Work Sans"/>
              <a:ea typeface="Work Sans"/>
              <a:cs typeface="Work Sans"/>
              <a:sym typeface="Work Sans"/>
            </a:endParaRPr>
          </a:p>
        </p:txBody>
      </p:sp>
      <p:pic>
        <p:nvPicPr>
          <p:cNvPr id="149" name="Google Shape;149;p14"/>
          <p:cNvPicPr preferRelativeResize="0"/>
          <p:nvPr/>
        </p:nvPicPr>
        <p:blipFill>
          <a:blip r:embed="rId5">
            <a:alphaModFix/>
          </a:blip>
          <a:stretch>
            <a:fillRect/>
          </a:stretch>
        </p:blipFill>
        <p:spPr>
          <a:xfrm>
            <a:off x="1519050" y="4827000"/>
            <a:ext cx="6105876" cy="60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15"/>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155" name="Google Shape;155;p15"/>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156" name="Google Shape;156;p15"/>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157" name="Google Shape;15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Our Customers</a:t>
            </a:r>
            <a:endParaRPr>
              <a:latin typeface="Work Sans"/>
              <a:ea typeface="Work Sans"/>
              <a:cs typeface="Work Sans"/>
              <a:sym typeface="Work Sans"/>
            </a:endParaRPr>
          </a:p>
        </p:txBody>
      </p:sp>
      <p:sp>
        <p:nvSpPr>
          <p:cNvPr id="158" name="Google Shape;158;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We target the gamers, people who enjoy playing video games and want to post their cool video game clips </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Gamers from content creators to the average college student who like to play in their free time</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An example of our customer would be your average gamer Joe, who just likes to play games on his free time </a:t>
            </a:r>
            <a:endParaRPr>
              <a:latin typeface="Work Sans"/>
              <a:ea typeface="Work Sans"/>
              <a:cs typeface="Work Sans"/>
              <a:sym typeface="Work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16"/>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164" name="Google Shape;164;p16"/>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165" name="Google Shape;165;p16"/>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166" name="Google Shape;166;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Other Competitors</a:t>
            </a:r>
            <a:endParaRPr>
              <a:latin typeface="Work Sans"/>
              <a:ea typeface="Work Sans"/>
              <a:cs typeface="Work Sans"/>
              <a:sym typeface="Work Sans"/>
            </a:endParaRPr>
          </a:p>
        </p:txBody>
      </p:sp>
      <p:sp>
        <p:nvSpPr>
          <p:cNvPr id="167" name="Google Shape;167;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YouTube - already a well known platform </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Twitch - popular places for streamers </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Our advantages</a:t>
            </a:r>
            <a:endParaRPr>
              <a:latin typeface="Work Sans"/>
              <a:ea typeface="Work Sans"/>
              <a:cs typeface="Work Sans"/>
              <a:sym typeface="Work Sans"/>
            </a:endParaRPr>
          </a:p>
          <a:p>
            <a:pPr indent="-311150" lvl="0" marL="914400" rtl="0" algn="l">
              <a:spcBef>
                <a:spcPts val="0"/>
              </a:spcBef>
              <a:spcAft>
                <a:spcPts val="0"/>
              </a:spcAft>
              <a:buSzPts val="1300"/>
              <a:buFont typeface="Work Sans"/>
              <a:buChar char="-"/>
            </a:pPr>
            <a:r>
              <a:rPr lang="en">
                <a:latin typeface="Work Sans"/>
                <a:ea typeface="Work Sans"/>
                <a:cs typeface="Work Sans"/>
                <a:sym typeface="Work Sans"/>
              </a:rPr>
              <a:t>Ad free </a:t>
            </a:r>
            <a:endParaRPr>
              <a:latin typeface="Work Sans"/>
              <a:ea typeface="Work Sans"/>
              <a:cs typeface="Work Sans"/>
              <a:sym typeface="Work Sans"/>
            </a:endParaRPr>
          </a:p>
          <a:p>
            <a:pPr indent="-311150" lvl="0" marL="914400" rtl="0" algn="l">
              <a:spcBef>
                <a:spcPts val="0"/>
              </a:spcBef>
              <a:spcAft>
                <a:spcPts val="0"/>
              </a:spcAft>
              <a:buSzPts val="1300"/>
              <a:buFont typeface="Work Sans"/>
              <a:buChar char="-"/>
            </a:pPr>
            <a:r>
              <a:rPr lang="en">
                <a:latin typeface="Work Sans"/>
                <a:ea typeface="Work Sans"/>
                <a:cs typeface="Work Sans"/>
                <a:sym typeface="Work Sans"/>
              </a:rPr>
              <a:t>Easy to find clips under certain categories </a:t>
            </a:r>
            <a:endParaRPr>
              <a:latin typeface="Work Sans"/>
              <a:ea typeface="Work Sans"/>
              <a:cs typeface="Work Sans"/>
              <a:sym typeface="Work Sans"/>
            </a:endParaRPr>
          </a:p>
          <a:p>
            <a:pPr indent="-311150" lvl="0" marL="914400" rtl="0" algn="l">
              <a:spcBef>
                <a:spcPts val="0"/>
              </a:spcBef>
              <a:spcAft>
                <a:spcPts val="0"/>
              </a:spcAft>
              <a:buSzPts val="1300"/>
              <a:buFont typeface="Work Sans"/>
              <a:buChar char="-"/>
            </a:pPr>
            <a:r>
              <a:t/>
            </a:r>
            <a:endParaRPr>
              <a:latin typeface="Work Sans"/>
              <a:ea typeface="Work Sans"/>
              <a:cs typeface="Work Sans"/>
              <a:sym typeface="Work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7"/>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173" name="Google Shape;173;p17"/>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174" name="Google Shape;174;p17"/>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175" name="Google Shape;175;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Software Stack</a:t>
            </a:r>
            <a:endParaRPr>
              <a:latin typeface="Work Sans"/>
              <a:ea typeface="Work Sans"/>
              <a:cs typeface="Work Sans"/>
              <a:sym typeface="Work Sans"/>
            </a:endParaRPr>
          </a:p>
        </p:txBody>
      </p:sp>
      <p:sp>
        <p:nvSpPr>
          <p:cNvPr id="176" name="Google Shape;176;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We Used Amazon Web Service as our server host</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Javascript for our backend language </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MySQL for our database</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Nginx for our web server</a:t>
            </a:r>
            <a:endParaRPr>
              <a:latin typeface="Work Sans"/>
              <a:ea typeface="Work Sans"/>
              <a:cs typeface="Work Sans"/>
              <a:sym typeface="Work Sans"/>
            </a:endParaRPr>
          </a:p>
          <a:p>
            <a:pPr indent="0" lvl="0" marL="0" rtl="0" algn="l">
              <a:spcBef>
                <a:spcPts val="1200"/>
              </a:spcBef>
              <a:spcAft>
                <a:spcPts val="1200"/>
              </a:spcAft>
              <a:buNone/>
            </a:pPr>
            <a:r>
              <a:t/>
            </a:r>
            <a:endParaRPr>
              <a:latin typeface="Work Sans"/>
              <a:ea typeface="Work Sans"/>
              <a:cs typeface="Work Sans"/>
              <a:sym typeface="Work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18"/>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182" name="Google Shape;182;p18"/>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183" name="Google Shape;183;p18"/>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184" name="Google Shape;184;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Team building</a:t>
            </a:r>
            <a:endParaRPr>
              <a:latin typeface="Work Sans"/>
              <a:ea typeface="Work Sans"/>
              <a:cs typeface="Work Sans"/>
              <a:sym typeface="Work Sans"/>
            </a:endParaRPr>
          </a:p>
        </p:txBody>
      </p:sp>
      <p:sp>
        <p:nvSpPr>
          <p:cNvPr id="185" name="Google Shape;185;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n">
                <a:latin typeface="Work Sans"/>
                <a:ea typeface="Work Sans"/>
                <a:cs typeface="Work Sans"/>
                <a:sym typeface="Work Sans"/>
              </a:rPr>
              <a:t>Team Meetings </a:t>
            </a:r>
            <a:endParaRPr>
              <a:latin typeface="Work Sans"/>
              <a:ea typeface="Work Sans"/>
              <a:cs typeface="Work Sans"/>
              <a:sym typeface="Work Sans"/>
            </a:endParaRPr>
          </a:p>
          <a:p>
            <a:pPr indent="-311150" lvl="0" marL="457200" rtl="0" algn="l">
              <a:lnSpc>
                <a:spcPct val="150000"/>
              </a:lnSpc>
              <a:spcBef>
                <a:spcPts val="1200"/>
              </a:spcBef>
              <a:spcAft>
                <a:spcPts val="0"/>
              </a:spcAft>
              <a:buSzPts val="1300"/>
              <a:buFont typeface="Work Sans"/>
              <a:buChar char="●"/>
            </a:pPr>
            <a:r>
              <a:rPr lang="en">
                <a:latin typeface="Work Sans"/>
                <a:ea typeface="Work Sans"/>
                <a:cs typeface="Work Sans"/>
                <a:sym typeface="Work Sans"/>
              </a:rPr>
              <a:t>We would have two official weekly meeting with all the group members on Monday and Saturday to debrief on what we’ve been doing that week, and assign new weekly tasks </a:t>
            </a:r>
            <a:endParaRPr>
              <a:latin typeface="Work Sans"/>
              <a:ea typeface="Work Sans"/>
              <a:cs typeface="Work Sans"/>
              <a:sym typeface="Work Sans"/>
            </a:endParaRPr>
          </a:p>
          <a:p>
            <a:pPr indent="0" lvl="0" marL="0" rtl="0" algn="l">
              <a:spcBef>
                <a:spcPts val="1200"/>
              </a:spcBef>
              <a:spcAft>
                <a:spcPts val="1200"/>
              </a:spcAft>
              <a:buNone/>
            </a:pPr>
            <a:r>
              <a:t/>
            </a:r>
            <a:endParaRPr>
              <a:latin typeface="Work Sans"/>
              <a:ea typeface="Work Sans"/>
              <a:cs typeface="Work Sans"/>
              <a:sym typeface="Work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19"/>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191" name="Google Shape;191;p19"/>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192" name="Google Shape;192;p19"/>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193" name="Google Shape;193;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Development</a:t>
            </a:r>
            <a:endParaRPr>
              <a:latin typeface="Work Sans"/>
              <a:ea typeface="Work Sans"/>
              <a:cs typeface="Work Sans"/>
              <a:sym typeface="Work Sans"/>
            </a:endParaRPr>
          </a:p>
        </p:txBody>
      </p:sp>
      <p:sp>
        <p:nvSpPr>
          <p:cNvPr id="194" name="Google Shape;194;p19"/>
          <p:cNvSpPr txBox="1"/>
          <p:nvPr>
            <p:ph idx="1" type="body"/>
          </p:nvPr>
        </p:nvSpPr>
        <p:spPr>
          <a:xfrm>
            <a:off x="2779025" y="1567550"/>
            <a:ext cx="55575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Frontend Team: Kelvin and Chaoyi</a:t>
            </a:r>
            <a:endParaRPr>
              <a:latin typeface="Work Sans"/>
              <a:ea typeface="Work Sans"/>
              <a:cs typeface="Work Sans"/>
              <a:sym typeface="Work Sans"/>
            </a:endParaRPr>
          </a:p>
          <a:p>
            <a:pPr indent="0" lvl="0" marL="0" rtl="0" algn="l">
              <a:spcBef>
                <a:spcPts val="1200"/>
              </a:spcBef>
              <a:spcAft>
                <a:spcPts val="0"/>
              </a:spcAft>
              <a:buNone/>
            </a:pPr>
            <a:r>
              <a:rPr lang="en">
                <a:latin typeface="Work Sans"/>
                <a:ea typeface="Work Sans"/>
                <a:cs typeface="Work Sans"/>
                <a:sym typeface="Work Sans"/>
              </a:rPr>
              <a:t>Backend Team: Steven and Alex</a:t>
            </a:r>
            <a:endParaRPr>
              <a:latin typeface="Work Sans"/>
              <a:ea typeface="Work Sans"/>
              <a:cs typeface="Work Sans"/>
              <a:sym typeface="Work Sans"/>
            </a:endParaRPr>
          </a:p>
          <a:p>
            <a:pPr indent="0" lvl="0" marL="0" rtl="0" algn="l">
              <a:spcBef>
                <a:spcPts val="1200"/>
              </a:spcBef>
              <a:spcAft>
                <a:spcPts val="1200"/>
              </a:spcAft>
              <a:buNone/>
            </a:pPr>
            <a:r>
              <a:rPr lang="en">
                <a:latin typeface="Work Sans"/>
                <a:ea typeface="Work Sans"/>
                <a:cs typeface="Work Sans"/>
                <a:sym typeface="Work Sans"/>
              </a:rPr>
              <a:t>Database: Damon</a:t>
            </a:r>
            <a:endParaRPr>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ctrTitle"/>
          </p:nvPr>
        </p:nvSpPr>
        <p:spPr>
          <a:xfrm>
            <a:off x="3144150" y="36475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Frontend Design</a:t>
            </a:r>
            <a:endParaRPr>
              <a:latin typeface="Work Sans"/>
              <a:ea typeface="Work Sans"/>
              <a:cs typeface="Work Sans"/>
              <a:sym typeface="Work Sans"/>
            </a:endParaRPr>
          </a:p>
        </p:txBody>
      </p:sp>
      <p:sp>
        <p:nvSpPr>
          <p:cNvPr id="200" name="Google Shape;200;p20"/>
          <p:cNvSpPr txBox="1"/>
          <p:nvPr>
            <p:ph idx="1" type="subTitle"/>
          </p:nvPr>
        </p:nvSpPr>
        <p:spPr>
          <a:xfrm>
            <a:off x="3257725" y="1696650"/>
            <a:ext cx="3862200" cy="1750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b="1" lang="en" sz="1800">
                <a:latin typeface="Work Sans"/>
                <a:ea typeface="Work Sans"/>
                <a:cs typeface="Work Sans"/>
                <a:sym typeface="Work Sans"/>
              </a:rPr>
              <a:t>Kelvin C </a:t>
            </a:r>
            <a:endParaRPr b="1" sz="1800">
              <a:latin typeface="Work Sans"/>
              <a:ea typeface="Work Sans"/>
              <a:cs typeface="Work Sans"/>
              <a:sym typeface="Work Sans"/>
            </a:endParaRPr>
          </a:p>
          <a:p>
            <a:pPr indent="0" lvl="0" marL="0" rtl="0" algn="l">
              <a:lnSpc>
                <a:spcPct val="95000"/>
              </a:lnSpc>
              <a:spcBef>
                <a:spcPts val="0"/>
              </a:spcBef>
              <a:spcAft>
                <a:spcPts val="0"/>
              </a:spcAft>
              <a:buSzPts val="1018"/>
              <a:buNone/>
            </a:pPr>
            <a:r>
              <a:rPr b="1" lang="en" sz="1800">
                <a:latin typeface="Work Sans"/>
                <a:ea typeface="Work Sans"/>
                <a:cs typeface="Work Sans"/>
                <a:sym typeface="Work Sans"/>
              </a:rPr>
              <a:t>Chaoyi Ying</a:t>
            </a:r>
            <a:endParaRPr b="1" sz="1800">
              <a:latin typeface="Work Sans"/>
              <a:ea typeface="Work Sans"/>
              <a:cs typeface="Work Sans"/>
              <a:sym typeface="Work Sans"/>
            </a:endParaRPr>
          </a:p>
        </p:txBody>
      </p:sp>
      <p:pic>
        <p:nvPicPr>
          <p:cNvPr id="201" name="Google Shape;201;p20"/>
          <p:cNvPicPr preferRelativeResize="0"/>
          <p:nvPr/>
        </p:nvPicPr>
        <p:blipFill rotWithShape="1">
          <a:blip r:embed="rId3">
            <a:alphaModFix/>
          </a:blip>
          <a:srcRect b="5830" l="0" r="0" t="-5830"/>
          <a:stretch/>
        </p:blipFill>
        <p:spPr>
          <a:xfrm>
            <a:off x="-553850" y="2917475"/>
            <a:ext cx="2299401" cy="2299401"/>
          </a:xfrm>
          <a:prstGeom prst="rect">
            <a:avLst/>
          </a:prstGeom>
          <a:noFill/>
          <a:ln>
            <a:noFill/>
          </a:ln>
        </p:spPr>
      </p:pic>
      <p:pic>
        <p:nvPicPr>
          <p:cNvPr id="202" name="Google Shape;202;p20"/>
          <p:cNvPicPr preferRelativeResize="0"/>
          <p:nvPr/>
        </p:nvPicPr>
        <p:blipFill>
          <a:blip r:embed="rId3">
            <a:alphaModFix/>
          </a:blip>
          <a:stretch>
            <a:fillRect/>
          </a:stretch>
        </p:blipFill>
        <p:spPr>
          <a:xfrm>
            <a:off x="-553850" y="-832550"/>
            <a:ext cx="3404298" cy="3404298"/>
          </a:xfrm>
          <a:prstGeom prst="rect">
            <a:avLst/>
          </a:prstGeom>
          <a:noFill/>
          <a:ln>
            <a:noFill/>
          </a:ln>
        </p:spPr>
      </p:pic>
      <p:pic>
        <p:nvPicPr>
          <p:cNvPr id="203" name="Google Shape;203;p20"/>
          <p:cNvPicPr preferRelativeResize="0"/>
          <p:nvPr/>
        </p:nvPicPr>
        <p:blipFill>
          <a:blip r:embed="rId4">
            <a:alphaModFix/>
          </a:blip>
          <a:stretch>
            <a:fillRect/>
          </a:stretch>
        </p:blipFill>
        <p:spPr>
          <a:xfrm>
            <a:off x="459275" y="673125"/>
            <a:ext cx="2779176" cy="2779176"/>
          </a:xfrm>
          <a:prstGeom prst="rect">
            <a:avLst/>
          </a:prstGeom>
          <a:noFill/>
          <a:ln>
            <a:noFill/>
          </a:ln>
        </p:spPr>
      </p:pic>
      <p:pic>
        <p:nvPicPr>
          <p:cNvPr id="204" name="Google Shape;204;p20"/>
          <p:cNvPicPr preferRelativeResize="0"/>
          <p:nvPr/>
        </p:nvPicPr>
        <p:blipFill>
          <a:blip r:embed="rId4">
            <a:alphaModFix/>
          </a:blip>
          <a:stretch>
            <a:fillRect/>
          </a:stretch>
        </p:blipFill>
        <p:spPr>
          <a:xfrm rot="6991265">
            <a:off x="-515887" y="1626675"/>
            <a:ext cx="2779176" cy="27791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1"/>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210" name="Google Shape;210;p21"/>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211" name="Google Shape;211;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UX principles</a:t>
            </a:r>
            <a:endParaRPr>
              <a:latin typeface="Work Sans"/>
              <a:ea typeface="Work Sans"/>
              <a:cs typeface="Work Sans"/>
              <a:sym typeface="Work Sans"/>
            </a:endParaRPr>
          </a:p>
        </p:txBody>
      </p:sp>
      <p:sp>
        <p:nvSpPr>
          <p:cNvPr id="212" name="Google Shape;212;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3" name="Google Shape;213;p21"/>
          <p:cNvPicPr preferRelativeResize="0"/>
          <p:nvPr/>
        </p:nvPicPr>
        <p:blipFill>
          <a:blip r:embed="rId5">
            <a:alphaModFix/>
          </a:blip>
          <a:stretch>
            <a:fillRect/>
          </a:stretch>
        </p:blipFill>
        <p:spPr>
          <a:xfrm>
            <a:off x="1297500" y="1567550"/>
            <a:ext cx="3309700" cy="27162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22"/>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219" name="Google Shape;219;p22"/>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220" name="Google Shape;220;p22"/>
          <p:cNvSpPr txBox="1"/>
          <p:nvPr>
            <p:ph type="title"/>
          </p:nvPr>
        </p:nvSpPr>
        <p:spPr>
          <a:xfrm>
            <a:off x="1239700" y="3706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Findable</a:t>
            </a:r>
            <a:endParaRPr>
              <a:latin typeface="Work Sans"/>
              <a:ea typeface="Work Sans"/>
              <a:cs typeface="Work Sans"/>
              <a:sym typeface="Work Sans"/>
            </a:endParaRPr>
          </a:p>
        </p:txBody>
      </p:sp>
      <p:sp>
        <p:nvSpPr>
          <p:cNvPr id="221" name="Google Shape;221;p22"/>
          <p:cNvSpPr txBox="1"/>
          <p:nvPr>
            <p:ph idx="1" type="body"/>
          </p:nvPr>
        </p:nvSpPr>
        <p:spPr>
          <a:xfrm>
            <a:off x="1297500" y="3351950"/>
            <a:ext cx="7038900" cy="122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Work Sans"/>
                <a:ea typeface="Work Sans"/>
                <a:cs typeface="Work Sans"/>
                <a:sym typeface="Work Sans"/>
              </a:rPr>
              <a:t>All main functions of our web app are easy to find and achieve via Nav bar</a:t>
            </a:r>
            <a:endParaRPr>
              <a:latin typeface="Work Sans"/>
              <a:ea typeface="Work Sans"/>
              <a:cs typeface="Work Sans"/>
              <a:sym typeface="Work Sans"/>
            </a:endParaRPr>
          </a:p>
        </p:txBody>
      </p:sp>
      <p:pic>
        <p:nvPicPr>
          <p:cNvPr id="222" name="Google Shape;222;p22"/>
          <p:cNvPicPr preferRelativeResize="0"/>
          <p:nvPr/>
        </p:nvPicPr>
        <p:blipFill>
          <a:blip r:embed="rId5">
            <a:alphaModFix/>
          </a:blip>
          <a:stretch>
            <a:fillRect/>
          </a:stretch>
        </p:blipFill>
        <p:spPr>
          <a:xfrm>
            <a:off x="1297500" y="968825"/>
            <a:ext cx="7038901" cy="22364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3"/>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228" name="Google Shape;228;p23"/>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229" name="Google Shape;229;p23"/>
          <p:cNvPicPr preferRelativeResize="0"/>
          <p:nvPr/>
        </p:nvPicPr>
        <p:blipFill>
          <a:blip r:embed="rId5">
            <a:alphaModFix/>
          </a:blip>
          <a:stretch>
            <a:fillRect/>
          </a:stretch>
        </p:blipFill>
        <p:spPr>
          <a:xfrm>
            <a:off x="187050" y="1865350"/>
            <a:ext cx="1479100" cy="1852050"/>
          </a:xfrm>
          <a:prstGeom prst="rect">
            <a:avLst/>
          </a:prstGeom>
          <a:noFill/>
          <a:ln>
            <a:noFill/>
          </a:ln>
        </p:spPr>
      </p:pic>
      <p:sp>
        <p:nvSpPr>
          <p:cNvPr id="230" name="Google Shape;230;p23"/>
          <p:cNvSpPr txBox="1"/>
          <p:nvPr>
            <p:ph type="title"/>
          </p:nvPr>
        </p:nvSpPr>
        <p:spPr>
          <a:xfrm>
            <a:off x="2843375" y="1303925"/>
            <a:ext cx="4796700" cy="136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All function is simple and straightforward, you were already familiar with</a:t>
            </a:r>
            <a:endParaRPr>
              <a:latin typeface="Work Sans"/>
              <a:ea typeface="Work Sans"/>
              <a:cs typeface="Work Sans"/>
              <a:sym typeface="Work Sans"/>
            </a:endParaRPr>
          </a:p>
        </p:txBody>
      </p:sp>
      <p:sp>
        <p:nvSpPr>
          <p:cNvPr id="231" name="Google Shape;231;p23"/>
          <p:cNvSpPr txBox="1"/>
          <p:nvPr>
            <p:ph idx="1" type="body"/>
          </p:nvPr>
        </p:nvSpPr>
        <p:spPr>
          <a:xfrm>
            <a:off x="1205050" y="151000"/>
            <a:ext cx="7038900" cy="1224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800">
                <a:latin typeface="Work Sans"/>
                <a:ea typeface="Work Sans"/>
                <a:cs typeface="Work Sans"/>
                <a:sym typeface="Work Sans"/>
              </a:rPr>
              <a:t>Users do not need to read instructions on how to find the specific functions</a:t>
            </a:r>
            <a:endParaRPr>
              <a:latin typeface="Work Sans"/>
              <a:ea typeface="Work Sans"/>
              <a:cs typeface="Work Sans"/>
              <a:sym typeface="Work Sans"/>
            </a:endParaRPr>
          </a:p>
        </p:txBody>
      </p:sp>
      <p:pic>
        <p:nvPicPr>
          <p:cNvPr id="232" name="Google Shape;232;p23"/>
          <p:cNvPicPr preferRelativeResize="0"/>
          <p:nvPr/>
        </p:nvPicPr>
        <p:blipFill>
          <a:blip r:embed="rId6">
            <a:alphaModFix/>
          </a:blip>
          <a:stretch>
            <a:fillRect/>
          </a:stretch>
        </p:blipFill>
        <p:spPr>
          <a:xfrm>
            <a:off x="1320625" y="1303918"/>
            <a:ext cx="1280025" cy="1657800"/>
          </a:xfrm>
          <a:prstGeom prst="rect">
            <a:avLst/>
          </a:prstGeom>
          <a:noFill/>
          <a:ln>
            <a:noFill/>
          </a:ln>
        </p:spPr>
      </p:pic>
      <p:pic>
        <p:nvPicPr>
          <p:cNvPr id="233" name="Google Shape;233;p23"/>
          <p:cNvPicPr preferRelativeResize="0"/>
          <p:nvPr/>
        </p:nvPicPr>
        <p:blipFill>
          <a:blip r:embed="rId7">
            <a:alphaModFix/>
          </a:blip>
          <a:stretch>
            <a:fillRect/>
          </a:stretch>
        </p:blipFill>
        <p:spPr>
          <a:xfrm>
            <a:off x="1158000" y="3468475"/>
            <a:ext cx="2520916" cy="914100"/>
          </a:xfrm>
          <a:prstGeom prst="rect">
            <a:avLst/>
          </a:prstGeom>
          <a:noFill/>
          <a:ln>
            <a:noFill/>
          </a:ln>
        </p:spPr>
      </p:pic>
      <p:pic>
        <p:nvPicPr>
          <p:cNvPr id="234" name="Google Shape;234;p23"/>
          <p:cNvPicPr preferRelativeResize="0"/>
          <p:nvPr/>
        </p:nvPicPr>
        <p:blipFill>
          <a:blip r:embed="rId8">
            <a:alphaModFix/>
          </a:blip>
          <a:stretch>
            <a:fillRect/>
          </a:stretch>
        </p:blipFill>
        <p:spPr>
          <a:xfrm>
            <a:off x="6579891" y="3113250"/>
            <a:ext cx="2180534" cy="1624541"/>
          </a:xfrm>
          <a:prstGeom prst="rect">
            <a:avLst/>
          </a:prstGeom>
          <a:noFill/>
          <a:ln>
            <a:noFill/>
          </a:ln>
        </p:spPr>
      </p:pic>
      <p:pic>
        <p:nvPicPr>
          <p:cNvPr id="235" name="Google Shape;235;p23"/>
          <p:cNvPicPr preferRelativeResize="0"/>
          <p:nvPr/>
        </p:nvPicPr>
        <p:blipFill>
          <a:blip r:embed="rId9">
            <a:alphaModFix/>
          </a:blip>
          <a:stretch>
            <a:fillRect/>
          </a:stretch>
        </p:blipFill>
        <p:spPr>
          <a:xfrm>
            <a:off x="3172516" y="2841100"/>
            <a:ext cx="3486150" cy="876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24"/>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241" name="Google Shape;241;p24"/>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242" name="Google Shape;242;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Icon</a:t>
            </a:r>
            <a:endParaRPr>
              <a:latin typeface="Work Sans"/>
              <a:ea typeface="Work Sans"/>
              <a:cs typeface="Work Sans"/>
              <a:sym typeface="Work Sans"/>
            </a:endParaRPr>
          </a:p>
        </p:txBody>
      </p:sp>
      <p:sp>
        <p:nvSpPr>
          <p:cNvPr id="243" name="Google Shape;243;p24"/>
          <p:cNvSpPr txBox="1"/>
          <p:nvPr>
            <p:ph idx="1" type="body"/>
          </p:nvPr>
        </p:nvSpPr>
        <p:spPr>
          <a:xfrm>
            <a:off x="1237200" y="2260825"/>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latin typeface="Work Sans"/>
                <a:ea typeface="Work Sans"/>
                <a:cs typeface="Work Sans"/>
                <a:sym typeface="Work Sans"/>
              </a:rPr>
              <a:t>User do not need to recognize what the icon stands for, very straightforward.</a:t>
            </a:r>
            <a:endParaRPr sz="1600">
              <a:latin typeface="Work Sans"/>
              <a:ea typeface="Work Sans"/>
              <a:cs typeface="Work Sans"/>
              <a:sym typeface="Work Sans"/>
            </a:endParaRPr>
          </a:p>
        </p:txBody>
      </p:sp>
      <p:pic>
        <p:nvPicPr>
          <p:cNvPr id="244" name="Google Shape;244;p24"/>
          <p:cNvPicPr preferRelativeResize="0"/>
          <p:nvPr/>
        </p:nvPicPr>
        <p:blipFill>
          <a:blip r:embed="rId5">
            <a:alphaModFix/>
          </a:blip>
          <a:stretch>
            <a:fillRect/>
          </a:stretch>
        </p:blipFill>
        <p:spPr>
          <a:xfrm>
            <a:off x="1297500" y="1019275"/>
            <a:ext cx="504825" cy="447675"/>
          </a:xfrm>
          <a:prstGeom prst="rect">
            <a:avLst/>
          </a:prstGeom>
          <a:noFill/>
          <a:ln>
            <a:noFill/>
          </a:ln>
        </p:spPr>
      </p:pic>
      <p:sp>
        <p:nvSpPr>
          <p:cNvPr id="245" name="Google Shape;245;p24"/>
          <p:cNvSpPr txBox="1"/>
          <p:nvPr/>
        </p:nvSpPr>
        <p:spPr>
          <a:xfrm>
            <a:off x="1964925" y="1043013"/>
            <a:ext cx="116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For sign in</a:t>
            </a:r>
            <a:endParaRPr>
              <a:solidFill>
                <a:schemeClr val="lt1"/>
              </a:solidFill>
              <a:latin typeface="Lato"/>
              <a:ea typeface="Lato"/>
              <a:cs typeface="Lato"/>
              <a:sym typeface="Lato"/>
            </a:endParaRPr>
          </a:p>
        </p:txBody>
      </p:sp>
      <p:pic>
        <p:nvPicPr>
          <p:cNvPr id="246" name="Google Shape;246;p24"/>
          <p:cNvPicPr preferRelativeResize="0"/>
          <p:nvPr/>
        </p:nvPicPr>
        <p:blipFill>
          <a:blip r:embed="rId6">
            <a:alphaModFix/>
          </a:blip>
          <a:stretch>
            <a:fillRect/>
          </a:stretch>
        </p:blipFill>
        <p:spPr>
          <a:xfrm>
            <a:off x="3007325" y="1014513"/>
            <a:ext cx="933450" cy="457200"/>
          </a:xfrm>
          <a:prstGeom prst="rect">
            <a:avLst/>
          </a:prstGeom>
          <a:noFill/>
          <a:ln>
            <a:noFill/>
          </a:ln>
        </p:spPr>
      </p:pic>
      <p:sp>
        <p:nvSpPr>
          <p:cNvPr id="247" name="Google Shape;247;p24"/>
          <p:cNvSpPr txBox="1"/>
          <p:nvPr/>
        </p:nvSpPr>
        <p:spPr>
          <a:xfrm>
            <a:off x="3988350" y="1043022"/>
            <a:ext cx="153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For searching</a:t>
            </a:r>
            <a:endParaRPr>
              <a:solidFill>
                <a:schemeClr val="lt1"/>
              </a:solidFill>
              <a:latin typeface="Lato"/>
              <a:ea typeface="Lato"/>
              <a:cs typeface="Lato"/>
              <a:sym typeface="Lato"/>
            </a:endParaRPr>
          </a:p>
        </p:txBody>
      </p:sp>
      <p:pic>
        <p:nvPicPr>
          <p:cNvPr id="248" name="Google Shape;248;p24"/>
          <p:cNvPicPr preferRelativeResize="0"/>
          <p:nvPr/>
        </p:nvPicPr>
        <p:blipFill>
          <a:blip r:embed="rId7">
            <a:alphaModFix/>
          </a:blip>
          <a:stretch>
            <a:fillRect/>
          </a:stretch>
        </p:blipFill>
        <p:spPr>
          <a:xfrm>
            <a:off x="5284350" y="985938"/>
            <a:ext cx="523875" cy="514350"/>
          </a:xfrm>
          <a:prstGeom prst="rect">
            <a:avLst/>
          </a:prstGeom>
          <a:noFill/>
          <a:ln>
            <a:noFill/>
          </a:ln>
        </p:spPr>
      </p:pic>
      <p:sp>
        <p:nvSpPr>
          <p:cNvPr id="249" name="Google Shape;249;p24"/>
          <p:cNvSpPr txBox="1"/>
          <p:nvPr/>
        </p:nvSpPr>
        <p:spPr>
          <a:xfrm>
            <a:off x="5920750" y="1043022"/>
            <a:ext cx="153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For log out</a:t>
            </a:r>
            <a:endParaRPr>
              <a:solidFill>
                <a:schemeClr val="lt1"/>
              </a:solidFill>
              <a:latin typeface="Lato"/>
              <a:ea typeface="Lato"/>
              <a:cs typeface="Lato"/>
              <a:sym typeface="Lato"/>
            </a:endParaRPr>
          </a:p>
        </p:txBody>
      </p:sp>
      <p:pic>
        <p:nvPicPr>
          <p:cNvPr id="250" name="Google Shape;250;p24"/>
          <p:cNvPicPr preferRelativeResize="0"/>
          <p:nvPr/>
        </p:nvPicPr>
        <p:blipFill>
          <a:blip r:embed="rId8">
            <a:alphaModFix/>
          </a:blip>
          <a:stretch>
            <a:fillRect/>
          </a:stretch>
        </p:blipFill>
        <p:spPr>
          <a:xfrm>
            <a:off x="1240350" y="1592450"/>
            <a:ext cx="619125" cy="514350"/>
          </a:xfrm>
          <a:prstGeom prst="rect">
            <a:avLst/>
          </a:prstGeom>
          <a:noFill/>
          <a:ln>
            <a:noFill/>
          </a:ln>
        </p:spPr>
      </p:pic>
      <p:sp>
        <p:nvSpPr>
          <p:cNvPr id="251" name="Google Shape;251;p24"/>
          <p:cNvSpPr txBox="1"/>
          <p:nvPr/>
        </p:nvSpPr>
        <p:spPr>
          <a:xfrm>
            <a:off x="2013325" y="1651913"/>
            <a:ext cx="116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For compete</a:t>
            </a:r>
            <a:endParaRPr>
              <a:solidFill>
                <a:schemeClr val="l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25"/>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257" name="Google Shape;257;p25"/>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258" name="Google Shape;258;p25"/>
          <p:cNvSpPr txBox="1"/>
          <p:nvPr>
            <p:ph type="title"/>
          </p:nvPr>
        </p:nvSpPr>
        <p:spPr>
          <a:xfrm>
            <a:off x="1297500" y="4400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Credible - </a:t>
            </a:r>
            <a:r>
              <a:rPr lang="en" sz="1600">
                <a:latin typeface="Work Sans"/>
                <a:ea typeface="Work Sans"/>
                <a:cs typeface="Work Sans"/>
                <a:sym typeface="Work Sans"/>
              </a:rPr>
              <a:t>Increase trustability by using our app</a:t>
            </a:r>
            <a:endParaRPr sz="2700">
              <a:latin typeface="Work Sans"/>
              <a:ea typeface="Work Sans"/>
              <a:cs typeface="Work Sans"/>
              <a:sym typeface="Work Sans"/>
            </a:endParaRPr>
          </a:p>
        </p:txBody>
      </p:sp>
      <p:sp>
        <p:nvSpPr>
          <p:cNvPr id="259" name="Google Shape;259;p25"/>
          <p:cNvSpPr txBox="1"/>
          <p:nvPr>
            <p:ph idx="1" type="body"/>
          </p:nvPr>
        </p:nvSpPr>
        <p:spPr>
          <a:xfrm>
            <a:off x="1193475" y="1354100"/>
            <a:ext cx="7038900" cy="29112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Font typeface="Work Sans"/>
              <a:buChar char="●"/>
            </a:pPr>
            <a:r>
              <a:rPr lang="en" sz="1700">
                <a:latin typeface="Work Sans"/>
                <a:ea typeface="Work Sans"/>
                <a:cs typeface="Work Sans"/>
                <a:sym typeface="Work Sans"/>
              </a:rPr>
              <a:t>Security</a:t>
            </a:r>
            <a:endParaRPr sz="1700">
              <a:latin typeface="Work Sans"/>
              <a:ea typeface="Work Sans"/>
              <a:cs typeface="Work Sans"/>
              <a:sym typeface="Work Sans"/>
            </a:endParaRPr>
          </a:p>
          <a:p>
            <a:pPr indent="-336550" lvl="0" marL="457200" rtl="0" algn="l">
              <a:spcBef>
                <a:spcPts val="0"/>
              </a:spcBef>
              <a:spcAft>
                <a:spcPts val="0"/>
              </a:spcAft>
              <a:buSzPts val="1700"/>
              <a:buFont typeface="Work Sans"/>
              <a:buChar char="●"/>
            </a:pPr>
            <a:r>
              <a:rPr lang="en" sz="1700">
                <a:latin typeface="Work Sans"/>
                <a:ea typeface="Work Sans"/>
                <a:cs typeface="Work Sans"/>
                <a:sym typeface="Work Sans"/>
              </a:rPr>
              <a:t>Clean &amp; Ads free</a:t>
            </a:r>
            <a:endParaRPr sz="1700">
              <a:latin typeface="Work Sans"/>
              <a:ea typeface="Work Sans"/>
              <a:cs typeface="Work Sans"/>
              <a:sym typeface="Work Sans"/>
            </a:endParaRPr>
          </a:p>
          <a:p>
            <a:pPr indent="-336550" lvl="0" marL="457200" rtl="0" algn="l">
              <a:spcBef>
                <a:spcPts val="0"/>
              </a:spcBef>
              <a:spcAft>
                <a:spcPts val="0"/>
              </a:spcAft>
              <a:buSzPts val="1700"/>
              <a:buFont typeface="Work Sans"/>
              <a:buChar char="●"/>
            </a:pPr>
            <a:r>
              <a:rPr lang="en" sz="1700">
                <a:latin typeface="Work Sans"/>
                <a:ea typeface="Work Sans"/>
                <a:cs typeface="Work Sans"/>
                <a:sym typeface="Work Sans"/>
              </a:rPr>
              <a:t>Earn money or get actual benefit (we are not spam website)</a:t>
            </a:r>
            <a:endParaRPr sz="1700">
              <a:latin typeface="Work Sans"/>
              <a:ea typeface="Work Sans"/>
              <a:cs typeface="Work Sans"/>
              <a:sym typeface="Work Sans"/>
            </a:endParaRPr>
          </a:p>
          <a:p>
            <a:pPr indent="0" lvl="0" marL="0" rtl="0" algn="l">
              <a:spcBef>
                <a:spcPts val="1200"/>
              </a:spcBef>
              <a:spcAft>
                <a:spcPts val="1200"/>
              </a:spcAft>
              <a:buNone/>
            </a:pPr>
            <a:r>
              <a:t/>
            </a:r>
            <a:endParaRPr>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26"/>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265" name="Google Shape;265;p26"/>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266" name="Google Shape;266;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Effort for Credibility improvement</a:t>
            </a:r>
            <a:endParaRPr>
              <a:latin typeface="Work Sans"/>
              <a:ea typeface="Work Sans"/>
              <a:cs typeface="Work Sans"/>
              <a:sym typeface="Work Sans"/>
            </a:endParaRPr>
          </a:p>
        </p:txBody>
      </p:sp>
      <p:sp>
        <p:nvSpPr>
          <p:cNvPr id="267" name="Google Shape;267;p26"/>
          <p:cNvSpPr txBox="1"/>
          <p:nvPr>
            <p:ph idx="1" type="body"/>
          </p:nvPr>
        </p:nvSpPr>
        <p:spPr>
          <a:xfrm>
            <a:off x="1355300" y="3375050"/>
            <a:ext cx="7038900" cy="1410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latin typeface="Work Sans"/>
                <a:ea typeface="Work Sans"/>
                <a:cs typeface="Work Sans"/>
                <a:sym typeface="Work Sans"/>
              </a:rPr>
              <a:t>User care about their personal information</a:t>
            </a:r>
            <a:endParaRPr>
              <a:latin typeface="Work Sans"/>
              <a:ea typeface="Work Sans"/>
              <a:cs typeface="Work Sans"/>
              <a:sym typeface="Work Sans"/>
            </a:endParaRPr>
          </a:p>
          <a:p>
            <a:pPr indent="0" lvl="0" marL="0" rtl="0" algn="l">
              <a:spcBef>
                <a:spcPts val="1200"/>
              </a:spcBef>
              <a:spcAft>
                <a:spcPts val="0"/>
              </a:spcAft>
              <a:buNone/>
            </a:pPr>
            <a:r>
              <a:rPr lang="en">
                <a:latin typeface="Work Sans"/>
                <a:ea typeface="Work Sans"/>
                <a:cs typeface="Work Sans"/>
                <a:sym typeface="Work Sans"/>
              </a:rPr>
              <a:t>No name, phone number, location info and etc., required</a:t>
            </a:r>
            <a:endParaRPr>
              <a:latin typeface="Work Sans"/>
              <a:ea typeface="Work Sans"/>
              <a:cs typeface="Work Sans"/>
              <a:sym typeface="Work Sans"/>
            </a:endParaRPr>
          </a:p>
          <a:p>
            <a:pPr indent="0" lvl="0" marL="0" rtl="0" algn="l">
              <a:spcBef>
                <a:spcPts val="1200"/>
              </a:spcBef>
              <a:spcAft>
                <a:spcPts val="0"/>
              </a:spcAft>
              <a:buNone/>
            </a:pPr>
            <a:r>
              <a:rPr lang="en">
                <a:latin typeface="Work Sans"/>
                <a:ea typeface="Work Sans"/>
                <a:cs typeface="Work Sans"/>
                <a:sym typeface="Work Sans"/>
              </a:rPr>
              <a:t>An email address is good enough for register</a:t>
            </a:r>
            <a:endParaRPr>
              <a:latin typeface="Work Sans"/>
              <a:ea typeface="Work Sans"/>
              <a:cs typeface="Work Sans"/>
              <a:sym typeface="Work Sans"/>
            </a:endParaRPr>
          </a:p>
          <a:p>
            <a:pPr indent="0" lvl="0" marL="0" rtl="0" algn="l">
              <a:spcBef>
                <a:spcPts val="1200"/>
              </a:spcBef>
              <a:spcAft>
                <a:spcPts val="1200"/>
              </a:spcAft>
              <a:buNone/>
            </a:pPr>
            <a:r>
              <a:rPr lang="en">
                <a:latin typeface="Work Sans"/>
                <a:ea typeface="Work Sans"/>
                <a:cs typeface="Work Sans"/>
                <a:sym typeface="Work Sans"/>
              </a:rPr>
              <a:t>Won`t send users mail unless they agree </a:t>
            </a:r>
            <a:endParaRPr>
              <a:latin typeface="Work Sans"/>
              <a:ea typeface="Work Sans"/>
              <a:cs typeface="Work Sans"/>
              <a:sym typeface="Work Sans"/>
            </a:endParaRPr>
          </a:p>
        </p:txBody>
      </p:sp>
      <p:pic>
        <p:nvPicPr>
          <p:cNvPr id="268" name="Google Shape;268;p26"/>
          <p:cNvPicPr preferRelativeResize="0"/>
          <p:nvPr/>
        </p:nvPicPr>
        <p:blipFill>
          <a:blip r:embed="rId5">
            <a:alphaModFix/>
          </a:blip>
          <a:stretch>
            <a:fillRect/>
          </a:stretch>
        </p:blipFill>
        <p:spPr>
          <a:xfrm>
            <a:off x="1355295" y="957850"/>
            <a:ext cx="2089100" cy="2302050"/>
          </a:xfrm>
          <a:prstGeom prst="rect">
            <a:avLst/>
          </a:prstGeom>
          <a:noFill/>
          <a:ln>
            <a:noFill/>
          </a:ln>
        </p:spPr>
      </p:pic>
      <p:pic>
        <p:nvPicPr>
          <p:cNvPr id="269" name="Google Shape;269;p26"/>
          <p:cNvPicPr preferRelativeResize="0"/>
          <p:nvPr/>
        </p:nvPicPr>
        <p:blipFill>
          <a:blip r:embed="rId6">
            <a:alphaModFix/>
          </a:blip>
          <a:stretch>
            <a:fillRect/>
          </a:stretch>
        </p:blipFill>
        <p:spPr>
          <a:xfrm>
            <a:off x="5473400" y="957850"/>
            <a:ext cx="2340316" cy="2302050"/>
          </a:xfrm>
          <a:prstGeom prst="rect">
            <a:avLst/>
          </a:prstGeom>
          <a:noFill/>
          <a:ln>
            <a:noFill/>
          </a:ln>
        </p:spPr>
      </p:pic>
      <p:cxnSp>
        <p:nvCxnSpPr>
          <p:cNvPr id="270" name="Google Shape;270;p26"/>
          <p:cNvCxnSpPr/>
          <p:nvPr/>
        </p:nvCxnSpPr>
        <p:spPr>
          <a:xfrm>
            <a:off x="3551545" y="2099875"/>
            <a:ext cx="1851000" cy="18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27"/>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276" name="Google Shape;276;p27"/>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277" name="Google Shape;277;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Clean &amp; Ads free</a:t>
            </a:r>
            <a:endParaRPr>
              <a:latin typeface="Work Sans"/>
              <a:ea typeface="Work Sans"/>
              <a:cs typeface="Work Sans"/>
              <a:sym typeface="Work Sans"/>
            </a:endParaRPr>
          </a:p>
        </p:txBody>
      </p:sp>
      <p:sp>
        <p:nvSpPr>
          <p:cNvPr id="278" name="Google Shape;278;p27"/>
          <p:cNvSpPr txBox="1"/>
          <p:nvPr>
            <p:ph idx="1" type="body"/>
          </p:nvPr>
        </p:nvSpPr>
        <p:spPr>
          <a:xfrm>
            <a:off x="6888825" y="1074925"/>
            <a:ext cx="1745400" cy="382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Work Sans"/>
                <a:ea typeface="Work Sans"/>
                <a:cs typeface="Work Sans"/>
                <a:sym typeface="Work Sans"/>
              </a:rPr>
              <a:t>User feel safe and trust our app</a:t>
            </a:r>
            <a:endParaRPr>
              <a:latin typeface="Work Sans"/>
              <a:ea typeface="Work Sans"/>
              <a:cs typeface="Work Sans"/>
              <a:sym typeface="Work Sans"/>
            </a:endParaRPr>
          </a:p>
        </p:txBody>
      </p:sp>
      <p:pic>
        <p:nvPicPr>
          <p:cNvPr id="279" name="Google Shape;279;p27"/>
          <p:cNvPicPr preferRelativeResize="0"/>
          <p:nvPr/>
        </p:nvPicPr>
        <p:blipFill>
          <a:blip r:embed="rId5">
            <a:alphaModFix/>
          </a:blip>
          <a:stretch>
            <a:fillRect/>
          </a:stretch>
        </p:blipFill>
        <p:spPr>
          <a:xfrm>
            <a:off x="1556225" y="1043350"/>
            <a:ext cx="5231677" cy="375935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28"/>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285" name="Google Shape;285;p28"/>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286" name="Google Shape;286;p28"/>
          <p:cNvSpPr txBox="1"/>
          <p:nvPr>
            <p:ph type="title"/>
          </p:nvPr>
        </p:nvSpPr>
        <p:spPr>
          <a:xfrm>
            <a:off x="11588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Useful</a:t>
            </a:r>
            <a:endParaRPr>
              <a:latin typeface="Work Sans"/>
              <a:ea typeface="Work Sans"/>
              <a:cs typeface="Work Sans"/>
              <a:sym typeface="Work Sans"/>
            </a:endParaRPr>
          </a:p>
        </p:txBody>
      </p:sp>
      <p:sp>
        <p:nvSpPr>
          <p:cNvPr id="287" name="Google Shape;287;p28"/>
          <p:cNvSpPr txBox="1"/>
          <p:nvPr>
            <p:ph idx="1" type="body"/>
          </p:nvPr>
        </p:nvSpPr>
        <p:spPr>
          <a:xfrm>
            <a:off x="303450" y="1509725"/>
            <a:ext cx="7038900" cy="3344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400"/>
          </a:p>
        </p:txBody>
      </p:sp>
      <p:pic>
        <p:nvPicPr>
          <p:cNvPr id="288" name="Google Shape;288;p28"/>
          <p:cNvPicPr preferRelativeResize="0"/>
          <p:nvPr/>
        </p:nvPicPr>
        <p:blipFill>
          <a:blip r:embed="rId5">
            <a:alphaModFix/>
          </a:blip>
          <a:stretch>
            <a:fillRect/>
          </a:stretch>
        </p:blipFill>
        <p:spPr>
          <a:xfrm>
            <a:off x="2553500" y="497775"/>
            <a:ext cx="6219351" cy="4356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29"/>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294" name="Google Shape;294;p29"/>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295" name="Google Shape;295;p29"/>
          <p:cNvSpPr txBox="1"/>
          <p:nvPr>
            <p:ph type="title"/>
          </p:nvPr>
        </p:nvSpPr>
        <p:spPr>
          <a:xfrm>
            <a:off x="1297500" y="113347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Vote for competition!</a:t>
            </a:r>
            <a:endParaRPr>
              <a:latin typeface="Work Sans"/>
              <a:ea typeface="Work Sans"/>
              <a:cs typeface="Work Sans"/>
              <a:sym typeface="Work Sans"/>
            </a:endParaRPr>
          </a:p>
        </p:txBody>
      </p:sp>
      <p:sp>
        <p:nvSpPr>
          <p:cNvPr id="296" name="Google Shape;296;p29"/>
          <p:cNvSpPr txBox="1"/>
          <p:nvPr>
            <p:ph idx="1" type="body"/>
          </p:nvPr>
        </p:nvSpPr>
        <p:spPr>
          <a:xfrm>
            <a:off x="3135275" y="173110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latin typeface="Work Sans"/>
                <a:ea typeface="Work Sans"/>
                <a:cs typeface="Work Sans"/>
                <a:sym typeface="Work Sans"/>
              </a:rPr>
              <a:t>Watch clip for entertaining</a:t>
            </a:r>
            <a:endParaRPr sz="1400">
              <a:latin typeface="Work Sans"/>
              <a:ea typeface="Work Sans"/>
              <a:cs typeface="Work Sans"/>
              <a:sym typeface="Work Sans"/>
            </a:endParaRPr>
          </a:p>
          <a:p>
            <a:pPr indent="0" lvl="0" marL="0" rtl="0" algn="l">
              <a:spcBef>
                <a:spcPts val="1200"/>
              </a:spcBef>
              <a:spcAft>
                <a:spcPts val="0"/>
              </a:spcAft>
              <a:buNone/>
            </a:pPr>
            <a:r>
              <a:rPr lang="en" sz="1400">
                <a:latin typeface="Work Sans"/>
                <a:ea typeface="Work Sans"/>
                <a:cs typeface="Work Sans"/>
                <a:sym typeface="Work Sans"/>
              </a:rPr>
              <a:t>Upload own video for exposing</a:t>
            </a:r>
            <a:endParaRPr sz="1400">
              <a:latin typeface="Work Sans"/>
              <a:ea typeface="Work Sans"/>
              <a:cs typeface="Work Sans"/>
              <a:sym typeface="Work Sans"/>
            </a:endParaRPr>
          </a:p>
          <a:p>
            <a:pPr indent="0" lvl="0" marL="0" rtl="0" algn="l">
              <a:spcBef>
                <a:spcPts val="1200"/>
              </a:spcBef>
              <a:spcAft>
                <a:spcPts val="1200"/>
              </a:spcAft>
              <a:buNone/>
            </a:pPr>
            <a:r>
              <a:rPr lang="en" sz="1400">
                <a:latin typeface="Work Sans"/>
                <a:ea typeface="Work Sans"/>
                <a:cs typeface="Work Sans"/>
                <a:sym typeface="Work Sans"/>
              </a:rPr>
              <a:t>and earning money</a:t>
            </a:r>
            <a:endParaRPr sz="1400">
              <a:latin typeface="Work Sans"/>
              <a:ea typeface="Work Sans"/>
              <a:cs typeface="Work Sans"/>
              <a:sym typeface="Work Sans"/>
            </a:endParaRPr>
          </a:p>
        </p:txBody>
      </p:sp>
      <p:pic>
        <p:nvPicPr>
          <p:cNvPr id="297" name="Google Shape;297;p29"/>
          <p:cNvPicPr preferRelativeResize="0"/>
          <p:nvPr/>
        </p:nvPicPr>
        <p:blipFill>
          <a:blip r:embed="rId5">
            <a:alphaModFix/>
          </a:blip>
          <a:stretch>
            <a:fillRect/>
          </a:stretch>
        </p:blipFill>
        <p:spPr>
          <a:xfrm>
            <a:off x="1297500" y="361375"/>
            <a:ext cx="7371301" cy="789050"/>
          </a:xfrm>
          <a:prstGeom prst="rect">
            <a:avLst/>
          </a:prstGeom>
          <a:noFill/>
          <a:ln>
            <a:noFill/>
          </a:ln>
        </p:spPr>
      </p:pic>
      <p:pic>
        <p:nvPicPr>
          <p:cNvPr id="298" name="Google Shape;298;p29"/>
          <p:cNvPicPr preferRelativeResize="0"/>
          <p:nvPr/>
        </p:nvPicPr>
        <p:blipFill>
          <a:blip r:embed="rId6">
            <a:alphaModFix/>
          </a:blip>
          <a:stretch>
            <a:fillRect/>
          </a:stretch>
        </p:blipFill>
        <p:spPr>
          <a:xfrm>
            <a:off x="406452" y="1731102"/>
            <a:ext cx="2643426" cy="1493699"/>
          </a:xfrm>
          <a:prstGeom prst="rect">
            <a:avLst/>
          </a:prstGeom>
          <a:noFill/>
          <a:ln>
            <a:noFill/>
          </a:ln>
        </p:spPr>
      </p:pic>
      <p:pic>
        <p:nvPicPr>
          <p:cNvPr id="299" name="Google Shape;299;p29"/>
          <p:cNvPicPr preferRelativeResize="0"/>
          <p:nvPr/>
        </p:nvPicPr>
        <p:blipFill>
          <a:blip r:embed="rId7">
            <a:alphaModFix/>
          </a:blip>
          <a:stretch>
            <a:fillRect/>
          </a:stretch>
        </p:blipFill>
        <p:spPr>
          <a:xfrm>
            <a:off x="5661277" y="1260650"/>
            <a:ext cx="3007524" cy="3736525"/>
          </a:xfrm>
          <a:prstGeom prst="rect">
            <a:avLst/>
          </a:prstGeom>
          <a:noFill/>
          <a:ln>
            <a:noFill/>
          </a:ln>
        </p:spPr>
      </p:pic>
      <p:sp>
        <p:nvSpPr>
          <p:cNvPr id="300" name="Google Shape;300;p29"/>
          <p:cNvSpPr txBox="1"/>
          <p:nvPr/>
        </p:nvSpPr>
        <p:spPr>
          <a:xfrm>
            <a:off x="1297500" y="3594650"/>
            <a:ext cx="5016300" cy="90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700">
                <a:solidFill>
                  <a:schemeClr val="lt1"/>
                </a:solidFill>
                <a:latin typeface="Work Sans"/>
                <a:ea typeface="Work Sans"/>
                <a:cs typeface="Work Sans"/>
                <a:sym typeface="Work Sans"/>
              </a:rPr>
              <a:t>effectively and efficiently achieve</a:t>
            </a:r>
            <a:endParaRPr sz="1700">
              <a:solidFill>
                <a:schemeClr val="lt1"/>
              </a:solidFill>
              <a:latin typeface="Work Sans"/>
              <a:ea typeface="Work Sans"/>
              <a:cs typeface="Work Sans"/>
              <a:sym typeface="Work Sans"/>
            </a:endParaRPr>
          </a:p>
          <a:p>
            <a:pPr indent="0" lvl="0" marL="0" rtl="0" algn="l">
              <a:lnSpc>
                <a:spcPct val="115000"/>
              </a:lnSpc>
              <a:spcBef>
                <a:spcPts val="1200"/>
              </a:spcBef>
              <a:spcAft>
                <a:spcPts val="1200"/>
              </a:spcAft>
              <a:buNone/>
            </a:pPr>
            <a:r>
              <a:rPr lang="en" sz="1700">
                <a:solidFill>
                  <a:schemeClr val="lt1"/>
                </a:solidFill>
                <a:latin typeface="Work Sans"/>
                <a:ea typeface="Work Sans"/>
                <a:cs typeface="Work Sans"/>
                <a:sym typeface="Work Sans"/>
              </a:rPr>
              <a:t>user end goal with our app</a:t>
            </a:r>
            <a:endParaRPr>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30"/>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306" name="Google Shape;306;p30"/>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307" name="Google Shape;307;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Usable</a:t>
            </a:r>
            <a:endParaRPr>
              <a:latin typeface="Work Sans"/>
              <a:ea typeface="Work Sans"/>
              <a:cs typeface="Work Sans"/>
              <a:sym typeface="Work Sans"/>
            </a:endParaRPr>
          </a:p>
        </p:txBody>
      </p:sp>
      <p:sp>
        <p:nvSpPr>
          <p:cNvPr id="308" name="Google Shape;308;p30"/>
          <p:cNvSpPr txBox="1"/>
          <p:nvPr>
            <p:ph idx="1" type="body"/>
          </p:nvPr>
        </p:nvSpPr>
        <p:spPr>
          <a:xfrm>
            <a:off x="1297500" y="102370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Works well in various platform or browser</a:t>
            </a:r>
            <a:endParaRPr>
              <a:latin typeface="Work Sans"/>
              <a:ea typeface="Work Sans"/>
              <a:cs typeface="Work Sans"/>
              <a:sym typeface="Work Sans"/>
            </a:endParaRPr>
          </a:p>
          <a:p>
            <a:pPr indent="0" lvl="0" marL="0" rtl="0" algn="l">
              <a:spcBef>
                <a:spcPts val="1200"/>
              </a:spcBef>
              <a:spcAft>
                <a:spcPts val="1200"/>
              </a:spcAft>
              <a:buNone/>
            </a:pPr>
            <a:r>
              <a:t/>
            </a:r>
            <a:endParaRPr>
              <a:latin typeface="Work Sans"/>
              <a:ea typeface="Work Sans"/>
              <a:cs typeface="Work Sans"/>
              <a:sym typeface="Work Sans"/>
            </a:endParaRPr>
          </a:p>
        </p:txBody>
      </p:sp>
      <p:pic>
        <p:nvPicPr>
          <p:cNvPr id="309" name="Google Shape;309;p30"/>
          <p:cNvPicPr preferRelativeResize="0"/>
          <p:nvPr/>
        </p:nvPicPr>
        <p:blipFill>
          <a:blip r:embed="rId5">
            <a:alphaModFix/>
          </a:blip>
          <a:stretch>
            <a:fillRect/>
          </a:stretch>
        </p:blipFill>
        <p:spPr>
          <a:xfrm>
            <a:off x="154600" y="1994575"/>
            <a:ext cx="1899700" cy="2554400"/>
          </a:xfrm>
          <a:prstGeom prst="rect">
            <a:avLst/>
          </a:prstGeom>
          <a:noFill/>
          <a:ln>
            <a:noFill/>
          </a:ln>
        </p:spPr>
      </p:pic>
      <p:pic>
        <p:nvPicPr>
          <p:cNvPr id="310" name="Google Shape;310;p30"/>
          <p:cNvPicPr preferRelativeResize="0"/>
          <p:nvPr/>
        </p:nvPicPr>
        <p:blipFill>
          <a:blip r:embed="rId6">
            <a:alphaModFix/>
          </a:blip>
          <a:stretch>
            <a:fillRect/>
          </a:stretch>
        </p:blipFill>
        <p:spPr>
          <a:xfrm>
            <a:off x="2294050" y="1994600"/>
            <a:ext cx="1351616" cy="2911199"/>
          </a:xfrm>
          <a:prstGeom prst="rect">
            <a:avLst/>
          </a:prstGeom>
          <a:noFill/>
          <a:ln>
            <a:noFill/>
          </a:ln>
        </p:spPr>
      </p:pic>
      <p:sp>
        <p:nvSpPr>
          <p:cNvPr id="311" name="Google Shape;311;p30"/>
          <p:cNvSpPr txBox="1"/>
          <p:nvPr/>
        </p:nvSpPr>
        <p:spPr>
          <a:xfrm>
            <a:off x="80900" y="1504750"/>
            <a:ext cx="9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iPad</a:t>
            </a:r>
            <a:endParaRPr>
              <a:solidFill>
                <a:schemeClr val="lt1"/>
              </a:solidFill>
              <a:latin typeface="Lato"/>
              <a:ea typeface="Lato"/>
              <a:cs typeface="Lato"/>
              <a:sym typeface="Lato"/>
            </a:endParaRPr>
          </a:p>
        </p:txBody>
      </p:sp>
      <p:sp>
        <p:nvSpPr>
          <p:cNvPr id="312" name="Google Shape;312;p30"/>
          <p:cNvSpPr txBox="1"/>
          <p:nvPr/>
        </p:nvSpPr>
        <p:spPr>
          <a:xfrm>
            <a:off x="2236225" y="1451113"/>
            <a:ext cx="9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iPhone</a:t>
            </a:r>
            <a:endParaRPr>
              <a:solidFill>
                <a:schemeClr val="lt1"/>
              </a:solidFill>
              <a:latin typeface="Lato"/>
              <a:ea typeface="Lato"/>
              <a:cs typeface="Lato"/>
              <a:sym typeface="Lato"/>
            </a:endParaRPr>
          </a:p>
        </p:txBody>
      </p:sp>
      <p:pic>
        <p:nvPicPr>
          <p:cNvPr id="313" name="Google Shape;313;p30"/>
          <p:cNvPicPr preferRelativeResize="0"/>
          <p:nvPr/>
        </p:nvPicPr>
        <p:blipFill>
          <a:blip r:embed="rId7">
            <a:alphaModFix/>
          </a:blip>
          <a:stretch>
            <a:fillRect/>
          </a:stretch>
        </p:blipFill>
        <p:spPr>
          <a:xfrm>
            <a:off x="6510050" y="217300"/>
            <a:ext cx="2355274" cy="1391674"/>
          </a:xfrm>
          <a:prstGeom prst="rect">
            <a:avLst/>
          </a:prstGeom>
          <a:noFill/>
          <a:ln>
            <a:noFill/>
          </a:ln>
        </p:spPr>
      </p:pic>
      <p:sp>
        <p:nvSpPr>
          <p:cNvPr id="314" name="Google Shape;314;p30"/>
          <p:cNvSpPr txBox="1"/>
          <p:nvPr/>
        </p:nvSpPr>
        <p:spPr>
          <a:xfrm>
            <a:off x="5425900" y="217300"/>
            <a:ext cx="9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Nest Hub</a:t>
            </a:r>
            <a:endParaRPr>
              <a:solidFill>
                <a:schemeClr val="lt1"/>
              </a:solidFill>
              <a:latin typeface="Lato"/>
              <a:ea typeface="Lato"/>
              <a:cs typeface="Lato"/>
              <a:sym typeface="Lato"/>
            </a:endParaRPr>
          </a:p>
        </p:txBody>
      </p:sp>
      <p:pic>
        <p:nvPicPr>
          <p:cNvPr id="315" name="Google Shape;315;p30"/>
          <p:cNvPicPr preferRelativeResize="0"/>
          <p:nvPr/>
        </p:nvPicPr>
        <p:blipFill>
          <a:blip r:embed="rId8">
            <a:alphaModFix/>
          </a:blip>
          <a:stretch>
            <a:fillRect/>
          </a:stretch>
        </p:blipFill>
        <p:spPr>
          <a:xfrm>
            <a:off x="3885425" y="1994612"/>
            <a:ext cx="1540475" cy="2715476"/>
          </a:xfrm>
          <a:prstGeom prst="rect">
            <a:avLst/>
          </a:prstGeom>
          <a:noFill/>
          <a:ln>
            <a:noFill/>
          </a:ln>
        </p:spPr>
      </p:pic>
      <p:sp>
        <p:nvSpPr>
          <p:cNvPr id="316" name="Google Shape;316;p30"/>
          <p:cNvSpPr txBox="1"/>
          <p:nvPr/>
        </p:nvSpPr>
        <p:spPr>
          <a:xfrm>
            <a:off x="3885425" y="1451113"/>
            <a:ext cx="9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Galaxy</a:t>
            </a:r>
            <a:endParaRPr>
              <a:solidFill>
                <a:schemeClr val="lt1"/>
              </a:solidFill>
              <a:latin typeface="Lato"/>
              <a:ea typeface="Lato"/>
              <a:cs typeface="Lato"/>
              <a:sym typeface="Lato"/>
            </a:endParaRPr>
          </a:p>
        </p:txBody>
      </p:sp>
      <p:pic>
        <p:nvPicPr>
          <p:cNvPr id="317" name="Google Shape;317;p30"/>
          <p:cNvPicPr preferRelativeResize="0"/>
          <p:nvPr/>
        </p:nvPicPr>
        <p:blipFill>
          <a:blip r:embed="rId9">
            <a:alphaModFix/>
          </a:blip>
          <a:stretch>
            <a:fillRect/>
          </a:stretch>
        </p:blipFill>
        <p:spPr>
          <a:xfrm>
            <a:off x="6478974" y="1733762"/>
            <a:ext cx="2417424" cy="1675976"/>
          </a:xfrm>
          <a:prstGeom prst="rect">
            <a:avLst/>
          </a:prstGeom>
          <a:noFill/>
          <a:ln>
            <a:noFill/>
          </a:ln>
        </p:spPr>
      </p:pic>
      <p:sp>
        <p:nvSpPr>
          <p:cNvPr id="318" name="Google Shape;318;p30"/>
          <p:cNvSpPr txBox="1"/>
          <p:nvPr/>
        </p:nvSpPr>
        <p:spPr>
          <a:xfrm>
            <a:off x="5478588" y="1791400"/>
            <a:ext cx="9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Edge</a:t>
            </a:r>
            <a:endParaRPr>
              <a:solidFill>
                <a:schemeClr val="lt1"/>
              </a:solidFill>
              <a:latin typeface="Lato"/>
              <a:ea typeface="Lato"/>
              <a:cs typeface="Lato"/>
              <a:sym typeface="Lato"/>
            </a:endParaRPr>
          </a:p>
        </p:txBody>
      </p:sp>
      <p:pic>
        <p:nvPicPr>
          <p:cNvPr id="319" name="Google Shape;319;p30"/>
          <p:cNvPicPr preferRelativeResize="0"/>
          <p:nvPr/>
        </p:nvPicPr>
        <p:blipFill>
          <a:blip r:embed="rId10">
            <a:alphaModFix/>
          </a:blip>
          <a:stretch>
            <a:fillRect/>
          </a:stretch>
        </p:blipFill>
        <p:spPr>
          <a:xfrm>
            <a:off x="6478975" y="3534514"/>
            <a:ext cx="2417425" cy="1489112"/>
          </a:xfrm>
          <a:prstGeom prst="rect">
            <a:avLst/>
          </a:prstGeom>
          <a:noFill/>
          <a:ln>
            <a:noFill/>
          </a:ln>
        </p:spPr>
      </p:pic>
      <p:sp>
        <p:nvSpPr>
          <p:cNvPr id="320" name="Google Shape;320;p30"/>
          <p:cNvSpPr txBox="1"/>
          <p:nvPr/>
        </p:nvSpPr>
        <p:spPr>
          <a:xfrm>
            <a:off x="5478575" y="3627150"/>
            <a:ext cx="9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Chrome</a:t>
            </a:r>
            <a:endParaRPr>
              <a:solidFill>
                <a:schemeClr val="lt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31"/>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326" name="Google Shape;326;p31"/>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327" name="Google Shape;327;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Scrolling</a:t>
            </a:r>
            <a:endParaRPr>
              <a:latin typeface="Work Sans"/>
              <a:ea typeface="Work Sans"/>
              <a:cs typeface="Work Sans"/>
              <a:sym typeface="Work Sans"/>
            </a:endParaRPr>
          </a:p>
        </p:txBody>
      </p:sp>
      <p:sp>
        <p:nvSpPr>
          <p:cNvPr id="328" name="Google Shape;328;p31"/>
          <p:cNvSpPr txBox="1"/>
          <p:nvPr>
            <p:ph idx="1" type="body"/>
          </p:nvPr>
        </p:nvSpPr>
        <p:spPr>
          <a:xfrm>
            <a:off x="1297500" y="2172975"/>
            <a:ext cx="7038900" cy="237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Easily get back to top to where all the main function locate</a:t>
            </a:r>
            <a:endParaRPr>
              <a:latin typeface="Work Sans"/>
              <a:ea typeface="Work Sans"/>
              <a:cs typeface="Work Sans"/>
              <a:sym typeface="Work Sans"/>
            </a:endParaRPr>
          </a:p>
          <a:p>
            <a:pPr indent="0" lvl="0" marL="0" rtl="0" algn="l">
              <a:spcBef>
                <a:spcPts val="1200"/>
              </a:spcBef>
              <a:spcAft>
                <a:spcPts val="1200"/>
              </a:spcAft>
              <a:buNone/>
            </a:pPr>
            <a:r>
              <a:rPr lang="en">
                <a:latin typeface="Work Sans"/>
                <a:ea typeface="Work Sans"/>
                <a:cs typeface="Work Sans"/>
                <a:sym typeface="Work Sans"/>
              </a:rPr>
              <a:t>So user won't waste time on scrolling or find function button</a:t>
            </a:r>
            <a:endParaRPr>
              <a:latin typeface="Work Sans"/>
              <a:ea typeface="Work Sans"/>
              <a:cs typeface="Work Sans"/>
              <a:sym typeface="Work Sans"/>
            </a:endParaRPr>
          </a:p>
        </p:txBody>
      </p:sp>
      <p:pic>
        <p:nvPicPr>
          <p:cNvPr id="329" name="Google Shape;329;p31"/>
          <p:cNvPicPr preferRelativeResize="0"/>
          <p:nvPr/>
        </p:nvPicPr>
        <p:blipFill>
          <a:blip r:embed="rId5">
            <a:alphaModFix/>
          </a:blip>
          <a:stretch>
            <a:fillRect/>
          </a:stretch>
        </p:blipFill>
        <p:spPr>
          <a:xfrm>
            <a:off x="1297488" y="1149100"/>
            <a:ext cx="1952625" cy="857250"/>
          </a:xfrm>
          <a:prstGeom prst="rect">
            <a:avLst/>
          </a:prstGeom>
          <a:noFill/>
          <a:ln>
            <a:noFill/>
          </a:ln>
        </p:spPr>
      </p:pic>
      <p:pic>
        <p:nvPicPr>
          <p:cNvPr id="330" name="Google Shape;330;p31"/>
          <p:cNvPicPr preferRelativeResize="0"/>
          <p:nvPr/>
        </p:nvPicPr>
        <p:blipFill>
          <a:blip r:embed="rId6">
            <a:alphaModFix/>
          </a:blip>
          <a:stretch>
            <a:fillRect/>
          </a:stretch>
        </p:blipFill>
        <p:spPr>
          <a:xfrm>
            <a:off x="3479100" y="543548"/>
            <a:ext cx="5366524" cy="1462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32"/>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336" name="Google Shape;336;p32"/>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sp>
        <p:nvSpPr>
          <p:cNvPr id="337" name="Google Shape;337;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One hand operation</a:t>
            </a:r>
            <a:endParaRPr>
              <a:latin typeface="Work Sans"/>
              <a:ea typeface="Work Sans"/>
              <a:cs typeface="Work Sans"/>
              <a:sym typeface="Work Sans"/>
            </a:endParaRPr>
          </a:p>
        </p:txBody>
      </p:sp>
      <p:sp>
        <p:nvSpPr>
          <p:cNvPr id="338" name="Google Shape;338;p32"/>
          <p:cNvSpPr txBox="1"/>
          <p:nvPr>
            <p:ph idx="1" type="body"/>
          </p:nvPr>
        </p:nvSpPr>
        <p:spPr>
          <a:xfrm>
            <a:off x="1297500" y="13078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All main function button that</a:t>
            </a:r>
            <a:endParaRPr>
              <a:latin typeface="Work Sans"/>
              <a:ea typeface="Work Sans"/>
              <a:cs typeface="Work Sans"/>
              <a:sym typeface="Work Sans"/>
            </a:endParaRPr>
          </a:p>
          <a:p>
            <a:pPr indent="0" lvl="0" marL="0" rtl="0" algn="l">
              <a:spcBef>
                <a:spcPts val="1200"/>
              </a:spcBef>
              <a:spcAft>
                <a:spcPts val="0"/>
              </a:spcAft>
              <a:buNone/>
            </a:pPr>
            <a:r>
              <a:rPr lang="en">
                <a:latin typeface="Work Sans"/>
                <a:ea typeface="Work Sans"/>
                <a:cs typeface="Work Sans"/>
                <a:sym typeface="Work Sans"/>
              </a:rPr>
              <a:t>user will use are all locating at </a:t>
            </a:r>
            <a:endParaRPr>
              <a:latin typeface="Work Sans"/>
              <a:ea typeface="Work Sans"/>
              <a:cs typeface="Work Sans"/>
              <a:sym typeface="Work Sans"/>
            </a:endParaRPr>
          </a:p>
          <a:p>
            <a:pPr indent="0" lvl="0" marL="0" rtl="0" algn="l">
              <a:spcBef>
                <a:spcPts val="1200"/>
              </a:spcBef>
              <a:spcAft>
                <a:spcPts val="0"/>
              </a:spcAft>
              <a:buNone/>
            </a:pPr>
            <a:r>
              <a:rPr lang="en">
                <a:latin typeface="Work Sans"/>
                <a:ea typeface="Work Sans"/>
                <a:cs typeface="Work Sans"/>
                <a:sym typeface="Work Sans"/>
              </a:rPr>
              <a:t>the right half side of our app</a:t>
            </a:r>
            <a:endParaRPr>
              <a:latin typeface="Work Sans"/>
              <a:ea typeface="Work Sans"/>
              <a:cs typeface="Work Sans"/>
              <a:sym typeface="Work Sans"/>
            </a:endParaRPr>
          </a:p>
          <a:p>
            <a:pPr indent="0" lvl="0" marL="0" rtl="0" algn="l">
              <a:spcBef>
                <a:spcPts val="1200"/>
              </a:spcBef>
              <a:spcAft>
                <a:spcPts val="0"/>
              </a:spcAft>
              <a:buNone/>
            </a:pPr>
            <a:r>
              <a:t/>
            </a:r>
            <a:endParaRPr>
              <a:latin typeface="Work Sans"/>
              <a:ea typeface="Work Sans"/>
              <a:cs typeface="Work Sans"/>
              <a:sym typeface="Work Sans"/>
            </a:endParaRPr>
          </a:p>
          <a:p>
            <a:pPr indent="0" lvl="0" marL="0" rtl="0" algn="l">
              <a:spcBef>
                <a:spcPts val="1200"/>
              </a:spcBef>
              <a:spcAft>
                <a:spcPts val="0"/>
              </a:spcAft>
              <a:buNone/>
            </a:pPr>
            <a:r>
              <a:rPr lang="en">
                <a:latin typeface="Work Sans"/>
                <a:ea typeface="Work Sans"/>
                <a:cs typeface="Work Sans"/>
                <a:sym typeface="Work Sans"/>
              </a:rPr>
              <a:t>Important for user experience!</a:t>
            </a:r>
            <a:endParaRPr>
              <a:latin typeface="Work Sans"/>
              <a:ea typeface="Work Sans"/>
              <a:cs typeface="Work Sans"/>
              <a:sym typeface="Work Sans"/>
            </a:endParaRPr>
          </a:p>
          <a:p>
            <a:pPr indent="0" lvl="0" marL="0" rtl="0" algn="l">
              <a:spcBef>
                <a:spcPts val="1200"/>
              </a:spcBef>
              <a:spcAft>
                <a:spcPts val="1200"/>
              </a:spcAft>
              <a:buNone/>
            </a:pPr>
            <a:r>
              <a:rPr lang="en">
                <a:latin typeface="Work Sans"/>
                <a:ea typeface="Work Sans"/>
                <a:cs typeface="Work Sans"/>
                <a:sym typeface="Work Sans"/>
              </a:rPr>
              <a:t>	</a:t>
            </a:r>
            <a:endParaRPr>
              <a:latin typeface="Work Sans"/>
              <a:ea typeface="Work Sans"/>
              <a:cs typeface="Work Sans"/>
              <a:sym typeface="Work Sans"/>
            </a:endParaRPr>
          </a:p>
        </p:txBody>
      </p:sp>
      <p:pic>
        <p:nvPicPr>
          <p:cNvPr id="339" name="Google Shape;339;p32"/>
          <p:cNvPicPr preferRelativeResize="0"/>
          <p:nvPr/>
        </p:nvPicPr>
        <p:blipFill>
          <a:blip r:embed="rId5">
            <a:alphaModFix/>
          </a:blip>
          <a:stretch>
            <a:fillRect/>
          </a:stretch>
        </p:blipFill>
        <p:spPr>
          <a:xfrm>
            <a:off x="4187096" y="1356925"/>
            <a:ext cx="4007000" cy="2813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33"/>
          <p:cNvPicPr preferRelativeResize="0"/>
          <p:nvPr/>
        </p:nvPicPr>
        <p:blipFill rotWithShape="1">
          <a:blip r:embed="rId3">
            <a:alphaModFix/>
          </a:blip>
          <a:srcRect b="5830" l="0" r="0" t="-5830"/>
          <a:stretch/>
        </p:blipFill>
        <p:spPr>
          <a:xfrm>
            <a:off x="-553850" y="2917475"/>
            <a:ext cx="2299401" cy="2299401"/>
          </a:xfrm>
          <a:prstGeom prst="rect">
            <a:avLst/>
          </a:prstGeom>
          <a:noFill/>
          <a:ln>
            <a:noFill/>
          </a:ln>
        </p:spPr>
      </p:pic>
      <p:sp>
        <p:nvSpPr>
          <p:cNvPr id="345" name="Google Shape;345;p33"/>
          <p:cNvSpPr txBox="1"/>
          <p:nvPr>
            <p:ph type="ctrTitle"/>
          </p:nvPr>
        </p:nvSpPr>
        <p:spPr>
          <a:xfrm>
            <a:off x="3689700" y="2242050"/>
            <a:ext cx="5017500" cy="65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latin typeface="Work Sans"/>
                <a:ea typeface="Work Sans"/>
                <a:cs typeface="Work Sans"/>
                <a:sym typeface="Work Sans"/>
              </a:rPr>
              <a:t>Backend</a:t>
            </a:r>
            <a:endParaRPr sz="2800">
              <a:latin typeface="Work Sans"/>
              <a:ea typeface="Work Sans"/>
              <a:cs typeface="Work Sans"/>
              <a:sym typeface="Work Sans"/>
            </a:endParaRPr>
          </a:p>
        </p:txBody>
      </p:sp>
      <p:pic>
        <p:nvPicPr>
          <p:cNvPr id="346" name="Google Shape;346;p33"/>
          <p:cNvPicPr preferRelativeResize="0"/>
          <p:nvPr/>
        </p:nvPicPr>
        <p:blipFill>
          <a:blip r:embed="rId3">
            <a:alphaModFix/>
          </a:blip>
          <a:stretch>
            <a:fillRect/>
          </a:stretch>
        </p:blipFill>
        <p:spPr>
          <a:xfrm>
            <a:off x="-553850" y="-832550"/>
            <a:ext cx="3404298" cy="3404298"/>
          </a:xfrm>
          <a:prstGeom prst="rect">
            <a:avLst/>
          </a:prstGeom>
          <a:noFill/>
          <a:ln>
            <a:noFill/>
          </a:ln>
        </p:spPr>
      </p:pic>
      <p:pic>
        <p:nvPicPr>
          <p:cNvPr id="347" name="Google Shape;347;p33"/>
          <p:cNvPicPr preferRelativeResize="0"/>
          <p:nvPr/>
        </p:nvPicPr>
        <p:blipFill>
          <a:blip r:embed="rId4">
            <a:alphaModFix/>
          </a:blip>
          <a:stretch>
            <a:fillRect/>
          </a:stretch>
        </p:blipFill>
        <p:spPr>
          <a:xfrm>
            <a:off x="459275" y="673125"/>
            <a:ext cx="2779176" cy="2779176"/>
          </a:xfrm>
          <a:prstGeom prst="rect">
            <a:avLst/>
          </a:prstGeom>
          <a:noFill/>
          <a:ln>
            <a:noFill/>
          </a:ln>
        </p:spPr>
      </p:pic>
      <p:pic>
        <p:nvPicPr>
          <p:cNvPr id="348" name="Google Shape;348;p33"/>
          <p:cNvPicPr preferRelativeResize="0"/>
          <p:nvPr/>
        </p:nvPicPr>
        <p:blipFill>
          <a:blip r:embed="rId4">
            <a:alphaModFix/>
          </a:blip>
          <a:stretch>
            <a:fillRect/>
          </a:stretch>
        </p:blipFill>
        <p:spPr>
          <a:xfrm rot="6991265">
            <a:off x="-515887" y="1626675"/>
            <a:ext cx="2779176" cy="2779176"/>
          </a:xfrm>
          <a:prstGeom prst="rect">
            <a:avLst/>
          </a:prstGeom>
          <a:noFill/>
          <a:ln>
            <a:noFill/>
          </a:ln>
        </p:spPr>
      </p:pic>
      <p:pic>
        <p:nvPicPr>
          <p:cNvPr id="349" name="Google Shape;349;p33"/>
          <p:cNvPicPr preferRelativeResize="0"/>
          <p:nvPr/>
        </p:nvPicPr>
        <p:blipFill>
          <a:blip r:embed="rId5">
            <a:alphaModFix/>
          </a:blip>
          <a:stretch>
            <a:fillRect/>
          </a:stretch>
        </p:blipFill>
        <p:spPr>
          <a:xfrm>
            <a:off x="1519050" y="4827000"/>
            <a:ext cx="6105876" cy="60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34"/>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355" name="Google Shape;355;p34"/>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356" name="Google Shape;356;p34"/>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357" name="Google Shape;357;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Backend</a:t>
            </a:r>
            <a:endParaRPr>
              <a:latin typeface="Work Sans"/>
              <a:ea typeface="Work Sans"/>
              <a:cs typeface="Work Sans"/>
              <a:sym typeface="Work Sans"/>
            </a:endParaRPr>
          </a:p>
        </p:txBody>
      </p:sp>
      <p:sp>
        <p:nvSpPr>
          <p:cNvPr id="358" name="Google Shape;358;p3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Design</a:t>
            </a:r>
            <a:endParaRPr sz="1800"/>
          </a:p>
          <a:p>
            <a:pPr indent="-342900" lvl="0" marL="457200" rtl="0" algn="l">
              <a:spcBef>
                <a:spcPts val="0"/>
              </a:spcBef>
              <a:spcAft>
                <a:spcPts val="0"/>
              </a:spcAft>
              <a:buSzPts val="1800"/>
              <a:buChar char="-"/>
            </a:pPr>
            <a:r>
              <a:rPr lang="en" sz="1800"/>
              <a:t>Development</a:t>
            </a:r>
            <a:endParaRPr sz="1800"/>
          </a:p>
          <a:p>
            <a:pPr indent="-342900" lvl="0" marL="457200" rtl="0" algn="l">
              <a:spcBef>
                <a:spcPts val="0"/>
              </a:spcBef>
              <a:spcAft>
                <a:spcPts val="0"/>
              </a:spcAft>
              <a:buSzPts val="1800"/>
              <a:buChar char="-"/>
            </a:pPr>
            <a:r>
              <a:rPr lang="en" sz="1800"/>
              <a:t>Hardships</a:t>
            </a:r>
            <a:endParaRPr sz="1800"/>
          </a:p>
          <a:p>
            <a:pPr indent="0" lvl="0" marL="0" rtl="0" algn="l">
              <a:spcBef>
                <a:spcPts val="1200"/>
              </a:spcBef>
              <a:spcAft>
                <a:spcPts val="1200"/>
              </a:spcAft>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35"/>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364" name="Google Shape;364;p35"/>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365" name="Google Shape;365;p35"/>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366" name="Google Shape;366;p3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Model-View-Controller </a:t>
            </a:r>
            <a:endParaRPr/>
          </a:p>
          <a:p>
            <a:pPr indent="0" lvl="0" marL="0" rtl="0" algn="l">
              <a:spcBef>
                <a:spcPts val="0"/>
              </a:spcBef>
              <a:spcAft>
                <a:spcPts val="0"/>
              </a:spcAft>
              <a:buNone/>
            </a:pPr>
            <a:r>
              <a:t/>
            </a:r>
            <a:endParaRPr>
              <a:latin typeface="Work Sans"/>
              <a:ea typeface="Work Sans"/>
              <a:cs typeface="Work Sans"/>
              <a:sym typeface="Work Sans"/>
            </a:endParaRPr>
          </a:p>
        </p:txBody>
      </p:sp>
      <p:sp>
        <p:nvSpPr>
          <p:cNvPr id="367" name="Google Shape;367;p3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Examples of it in our project</a:t>
            </a:r>
            <a:endParaRPr sz="1800"/>
          </a:p>
          <a:p>
            <a:pPr indent="-342900" lvl="0" marL="457200" rtl="0" algn="l">
              <a:spcBef>
                <a:spcPts val="1200"/>
              </a:spcBef>
              <a:spcAft>
                <a:spcPts val="0"/>
              </a:spcAft>
              <a:buSzPts val="1800"/>
              <a:buChar char="-"/>
            </a:pPr>
            <a:r>
              <a:rPr lang="en" sz="1800"/>
              <a:t>Models to run MySQL queries</a:t>
            </a:r>
            <a:endParaRPr sz="1800"/>
          </a:p>
          <a:p>
            <a:pPr indent="-342900" lvl="0" marL="457200" rtl="0" algn="l">
              <a:spcBef>
                <a:spcPts val="0"/>
              </a:spcBef>
              <a:spcAft>
                <a:spcPts val="0"/>
              </a:spcAft>
              <a:buSzPts val="1800"/>
              <a:buChar char="-"/>
            </a:pPr>
            <a:r>
              <a:rPr lang="en" sz="1800"/>
              <a:t>Controller to interact with models and return data to the frontend</a:t>
            </a:r>
            <a:endParaRPr sz="1800"/>
          </a:p>
          <a:p>
            <a:pPr indent="-342900" lvl="0" marL="457200" rtl="0" algn="l">
              <a:spcBef>
                <a:spcPts val="0"/>
              </a:spcBef>
              <a:spcAft>
                <a:spcPts val="0"/>
              </a:spcAft>
              <a:buSzPts val="1800"/>
              <a:buChar char="-"/>
            </a:pPr>
            <a:r>
              <a:rPr lang="en" sz="1800"/>
              <a:t>Views are handle by the frontend</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36"/>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373" name="Google Shape;373;p36"/>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374" name="Google Shape;374;p36"/>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375" name="Google Shape;375;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Model-View-Controller</a:t>
            </a:r>
            <a:endParaRPr>
              <a:latin typeface="Work Sans"/>
              <a:ea typeface="Work Sans"/>
              <a:cs typeface="Work Sans"/>
              <a:sym typeface="Work Sans"/>
            </a:endParaRPr>
          </a:p>
        </p:txBody>
      </p:sp>
      <p:sp>
        <p:nvSpPr>
          <p:cNvPr id="376" name="Google Shape;376;p3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Benefits of using it</a:t>
            </a:r>
            <a:endParaRPr sz="1800"/>
          </a:p>
          <a:p>
            <a:pPr indent="-342900" lvl="0" marL="457200" rtl="0" algn="l">
              <a:spcBef>
                <a:spcPts val="1200"/>
              </a:spcBef>
              <a:spcAft>
                <a:spcPts val="0"/>
              </a:spcAft>
              <a:buSzPts val="1800"/>
              <a:buChar char="-"/>
            </a:pPr>
            <a:r>
              <a:rPr lang="en" sz="1800"/>
              <a:t>Work on models and routers parallelly</a:t>
            </a:r>
            <a:endParaRPr sz="1800"/>
          </a:p>
          <a:p>
            <a:pPr indent="-342900" lvl="0" marL="457200" rtl="0" algn="l">
              <a:spcBef>
                <a:spcPts val="0"/>
              </a:spcBef>
              <a:spcAft>
                <a:spcPts val="0"/>
              </a:spcAft>
              <a:buSzPts val="1800"/>
              <a:buChar char="-"/>
            </a:pPr>
            <a:r>
              <a:rPr lang="en" sz="1800"/>
              <a:t>Debugging code was easier since we were able to find which file had the bug</a:t>
            </a:r>
            <a:endParaRPr sz="1800"/>
          </a:p>
          <a:p>
            <a:pPr indent="-342900" lvl="0" marL="457200" rtl="0" algn="l">
              <a:spcBef>
                <a:spcPts val="0"/>
              </a:spcBef>
              <a:spcAft>
                <a:spcPts val="0"/>
              </a:spcAft>
              <a:buSzPts val="1800"/>
              <a:buChar char="-"/>
            </a:pPr>
            <a:r>
              <a:rPr lang="en" sz="1800"/>
              <a:t>We can change a small part if we needed to instead of a whole file</a:t>
            </a:r>
            <a:endParaRPr sz="1800"/>
          </a:p>
          <a:p>
            <a:pPr indent="-342900" lvl="1" marL="914400" rtl="0" algn="l">
              <a:spcBef>
                <a:spcPts val="0"/>
              </a:spcBef>
              <a:spcAft>
                <a:spcPts val="0"/>
              </a:spcAft>
              <a:buSzPts val="1800"/>
              <a:buChar char="-"/>
            </a:pPr>
            <a:r>
              <a:rPr lang="en" sz="1800"/>
              <a:t>Ex. We needed to update an MySQL query so it had a bit more information for the requester to use.</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37"/>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382" name="Google Shape;382;p37"/>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383" name="Google Shape;383;p37"/>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384" name="Google Shape;384;p3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Development</a:t>
            </a:r>
            <a:endParaRPr>
              <a:latin typeface="Work Sans"/>
              <a:ea typeface="Work Sans"/>
              <a:cs typeface="Work Sans"/>
              <a:sym typeface="Work Sans"/>
            </a:endParaRPr>
          </a:p>
        </p:txBody>
      </p:sp>
      <p:sp>
        <p:nvSpPr>
          <p:cNvPr id="385" name="Google Shape;385;p3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Creating MySQL Models</a:t>
            </a:r>
            <a:endParaRPr sz="1800"/>
          </a:p>
          <a:p>
            <a:pPr indent="-342900" lvl="1" marL="914400" rtl="0" algn="l">
              <a:spcBef>
                <a:spcPts val="0"/>
              </a:spcBef>
              <a:spcAft>
                <a:spcPts val="0"/>
              </a:spcAft>
              <a:buSzPts val="1800"/>
              <a:buChar char="-"/>
            </a:pPr>
            <a:r>
              <a:rPr lang="en" sz="1800"/>
              <a:t>Test MySQL queries in MySQL workbench</a:t>
            </a:r>
            <a:endParaRPr sz="1800"/>
          </a:p>
          <a:p>
            <a:pPr indent="-342900" lvl="0" marL="457200" rtl="0" algn="l">
              <a:spcBef>
                <a:spcPts val="0"/>
              </a:spcBef>
              <a:spcAft>
                <a:spcPts val="0"/>
              </a:spcAft>
              <a:buSzPts val="1800"/>
              <a:buChar char="-"/>
            </a:pPr>
            <a:r>
              <a:rPr lang="en" sz="1800"/>
              <a:t>Creating routes </a:t>
            </a:r>
            <a:endParaRPr sz="1800"/>
          </a:p>
          <a:p>
            <a:pPr indent="-342900" lvl="1" marL="914400" rtl="0" algn="l">
              <a:spcBef>
                <a:spcPts val="0"/>
              </a:spcBef>
              <a:spcAft>
                <a:spcPts val="0"/>
              </a:spcAft>
              <a:buSzPts val="1800"/>
              <a:buChar char="-"/>
            </a:pPr>
            <a:r>
              <a:rPr lang="en" sz="1800"/>
              <a:t>Testing routes with Insomnia</a:t>
            </a:r>
            <a:endParaRPr sz="1800"/>
          </a:p>
          <a:p>
            <a:pPr indent="-342900" lvl="0" marL="457200" rtl="0" algn="l">
              <a:spcBef>
                <a:spcPts val="0"/>
              </a:spcBef>
              <a:spcAft>
                <a:spcPts val="0"/>
              </a:spcAft>
              <a:buSzPts val="1800"/>
              <a:buChar char="-"/>
            </a:pPr>
            <a:r>
              <a:rPr lang="en" sz="1800"/>
              <a:t>Implemented models and routes in order of what items required which according to the database</a:t>
            </a:r>
            <a:endParaRPr sz="1800"/>
          </a:p>
          <a:p>
            <a:pPr indent="-342900" lvl="1" marL="914400" rtl="0" algn="l">
              <a:spcBef>
                <a:spcPts val="0"/>
              </a:spcBef>
              <a:spcAft>
                <a:spcPts val="0"/>
              </a:spcAft>
              <a:buSzPts val="1800"/>
              <a:buChar char="-"/>
            </a:pPr>
            <a:r>
              <a:rPr lang="en" sz="1800"/>
              <a:t>Ex. User -&gt; Competitions -&gt; Posts -&gt; Comments</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id="390" name="Google Shape;390;p38"/>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391" name="Google Shape;391;p38"/>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392" name="Google Shape;392;p38"/>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393" name="Google Shape;393;p3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Hardships</a:t>
            </a:r>
            <a:endParaRPr>
              <a:latin typeface="Work Sans"/>
              <a:ea typeface="Work Sans"/>
              <a:cs typeface="Work Sans"/>
              <a:sym typeface="Work Sans"/>
            </a:endParaRPr>
          </a:p>
        </p:txBody>
      </p:sp>
      <p:sp>
        <p:nvSpPr>
          <p:cNvPr id="394" name="Google Shape;394;p3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Getting code finished so frontend can utilize the backend</a:t>
            </a:r>
            <a:endParaRPr sz="1800"/>
          </a:p>
          <a:p>
            <a:pPr indent="-342900" lvl="0" marL="457200" rtl="0" algn="l">
              <a:spcBef>
                <a:spcPts val="0"/>
              </a:spcBef>
              <a:spcAft>
                <a:spcPts val="0"/>
              </a:spcAft>
              <a:buSzPts val="1800"/>
              <a:buChar char="-"/>
            </a:pPr>
            <a:r>
              <a:rPr lang="en" sz="1800"/>
              <a:t>Deployment of code / Working with Nginx</a:t>
            </a:r>
            <a:endParaRPr sz="1800"/>
          </a:p>
          <a:p>
            <a:pPr indent="-342900" lvl="0" marL="457200" rtl="0" algn="l">
              <a:spcBef>
                <a:spcPts val="0"/>
              </a:spcBef>
              <a:spcAft>
                <a:spcPts val="0"/>
              </a:spcAft>
              <a:buSzPts val="1800"/>
              <a:buChar char="-"/>
            </a:pPr>
            <a:r>
              <a:rPr lang="en" sz="1800"/>
              <a:t>CORS</a:t>
            </a:r>
            <a:endParaRPr sz="1800"/>
          </a:p>
          <a:p>
            <a:pPr indent="-342900" lvl="0" marL="457200" rtl="0" algn="l">
              <a:spcBef>
                <a:spcPts val="0"/>
              </a:spcBef>
              <a:spcAft>
                <a:spcPts val="0"/>
              </a:spcAft>
              <a:buSzPts val="1800"/>
              <a:buChar char="-"/>
            </a:pPr>
            <a:r>
              <a:rPr lang="en" sz="1800"/>
              <a:t>Sessions</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39"/>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400" name="Google Shape;400;p39"/>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401" name="Google Shape;401;p39"/>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402" name="Google Shape;402;p3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Database</a:t>
            </a:r>
            <a:endParaRPr>
              <a:latin typeface="Work Sans"/>
              <a:ea typeface="Work Sans"/>
              <a:cs typeface="Work Sans"/>
              <a:sym typeface="Work Sans"/>
            </a:endParaRPr>
          </a:p>
        </p:txBody>
      </p:sp>
      <p:sp>
        <p:nvSpPr>
          <p:cNvPr id="403" name="Google Shape;403;p3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MySQL server was used </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Used AWS RDS </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We accessed it using MySQL workbench to easily add tables and edit the database design</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Used MySQL workbench modeling tool to create an ER diagram of our database</a:t>
            </a:r>
            <a:endParaRPr>
              <a:latin typeface="Work Sans"/>
              <a:ea typeface="Work Sans"/>
              <a:cs typeface="Work Sans"/>
              <a:sym typeface="Work Sans"/>
            </a:endParaRPr>
          </a:p>
          <a:p>
            <a:pPr indent="0" lvl="0" marL="0" rtl="0" algn="l">
              <a:spcBef>
                <a:spcPts val="1200"/>
              </a:spcBef>
              <a:spcAft>
                <a:spcPts val="1200"/>
              </a:spcAft>
              <a:buNone/>
            </a:pPr>
            <a:r>
              <a:t/>
            </a:r>
            <a:endParaRPr>
              <a:latin typeface="Work Sans"/>
              <a:ea typeface="Work Sans"/>
              <a:cs typeface="Work Sans"/>
              <a:sym typeface="Work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40"/>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409" name="Google Shape;409;p40"/>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410" name="Google Shape;410;p40"/>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411" name="Google Shape;411;p4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Testing</a:t>
            </a:r>
            <a:endParaRPr>
              <a:latin typeface="Work Sans"/>
              <a:ea typeface="Work Sans"/>
              <a:cs typeface="Work Sans"/>
              <a:sym typeface="Work Sans"/>
            </a:endParaRPr>
          </a:p>
        </p:txBody>
      </p:sp>
      <p:sp>
        <p:nvSpPr>
          <p:cNvPr id="412" name="Google Shape;412;p40"/>
          <p:cNvSpPr txBox="1"/>
          <p:nvPr>
            <p:ph idx="1" type="body"/>
          </p:nvPr>
        </p:nvSpPr>
        <p:spPr>
          <a:xfrm>
            <a:off x="5361625" y="1351025"/>
            <a:ext cx="29082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Insomnia for testing </a:t>
            </a:r>
            <a:endParaRPr>
              <a:latin typeface="Work Sans"/>
              <a:ea typeface="Work Sans"/>
              <a:cs typeface="Work Sans"/>
              <a:sym typeface="Work Sans"/>
            </a:endParaRPr>
          </a:p>
          <a:p>
            <a:pPr indent="-311150" lvl="0" marL="457200" rtl="0" algn="l">
              <a:spcBef>
                <a:spcPts val="0"/>
              </a:spcBef>
              <a:spcAft>
                <a:spcPts val="0"/>
              </a:spcAft>
              <a:buSzPts val="1300"/>
              <a:buFont typeface="Work Sans"/>
              <a:buChar char="●"/>
            </a:pPr>
            <a:r>
              <a:rPr lang="en">
                <a:latin typeface="Work Sans"/>
                <a:ea typeface="Work Sans"/>
                <a:cs typeface="Work Sans"/>
                <a:sym typeface="Work Sans"/>
              </a:rPr>
              <a:t>We are able to write unit tests and test </a:t>
            </a:r>
            <a:br>
              <a:rPr lang="en">
                <a:latin typeface="Work Sans"/>
                <a:ea typeface="Work Sans"/>
                <a:cs typeface="Work Sans"/>
                <a:sym typeface="Work Sans"/>
              </a:rPr>
            </a:br>
            <a:r>
              <a:rPr lang="en">
                <a:latin typeface="Work Sans"/>
                <a:ea typeface="Work Sans"/>
                <a:cs typeface="Work Sans"/>
                <a:sym typeface="Work Sans"/>
              </a:rPr>
              <a:t>Our route functions, and makes sure POST</a:t>
            </a:r>
            <a:br>
              <a:rPr lang="en">
                <a:latin typeface="Work Sans"/>
                <a:ea typeface="Work Sans"/>
                <a:cs typeface="Work Sans"/>
                <a:sym typeface="Work Sans"/>
              </a:rPr>
            </a:br>
            <a:r>
              <a:rPr lang="en">
                <a:latin typeface="Work Sans"/>
                <a:ea typeface="Work Sans"/>
                <a:cs typeface="Work Sans"/>
                <a:sym typeface="Work Sans"/>
              </a:rPr>
              <a:t>Requests and GET requests are working</a:t>
            </a:r>
            <a:endParaRPr>
              <a:latin typeface="Work Sans"/>
              <a:ea typeface="Work Sans"/>
              <a:cs typeface="Work Sans"/>
              <a:sym typeface="Work Sans"/>
            </a:endParaRPr>
          </a:p>
        </p:txBody>
      </p:sp>
      <p:pic>
        <p:nvPicPr>
          <p:cNvPr id="413" name="Google Shape;413;p40"/>
          <p:cNvPicPr preferRelativeResize="0"/>
          <p:nvPr/>
        </p:nvPicPr>
        <p:blipFill>
          <a:blip r:embed="rId6">
            <a:alphaModFix/>
          </a:blip>
          <a:stretch>
            <a:fillRect/>
          </a:stretch>
        </p:blipFill>
        <p:spPr>
          <a:xfrm>
            <a:off x="458675" y="1238185"/>
            <a:ext cx="4743899" cy="26671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41"/>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419" name="Google Shape;419;p41"/>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420" name="Google Shape;420;p41"/>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421" name="Google Shape;421;p4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Code Review </a:t>
            </a:r>
            <a:endParaRPr>
              <a:latin typeface="Work Sans"/>
              <a:ea typeface="Work Sans"/>
              <a:cs typeface="Work Sans"/>
              <a:sym typeface="Work Sans"/>
            </a:endParaRPr>
          </a:p>
        </p:txBody>
      </p:sp>
      <p:sp>
        <p:nvSpPr>
          <p:cNvPr id="422" name="Google Shape;422;p4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Work Sans"/>
              <a:buChar char="-"/>
            </a:pPr>
            <a:r>
              <a:rPr lang="en" sz="1400">
                <a:latin typeface="Work Sans"/>
                <a:ea typeface="Work Sans"/>
                <a:cs typeface="Work Sans"/>
                <a:sym typeface="Work Sans"/>
              </a:rPr>
              <a:t>Code review was performed when merging from working branches into production branch.</a:t>
            </a:r>
            <a:endParaRPr sz="1400">
              <a:latin typeface="Work Sans"/>
              <a:ea typeface="Work Sans"/>
              <a:cs typeface="Work Sans"/>
              <a:sym typeface="Work Sans"/>
            </a:endParaRPr>
          </a:p>
          <a:p>
            <a:pPr indent="-317500" lvl="0" marL="457200" rtl="0" algn="l">
              <a:spcBef>
                <a:spcPts val="0"/>
              </a:spcBef>
              <a:spcAft>
                <a:spcPts val="0"/>
              </a:spcAft>
              <a:buSzPts val="1400"/>
              <a:buFont typeface="Work Sans"/>
              <a:buChar char="-"/>
            </a:pPr>
            <a:r>
              <a:rPr lang="en" sz="1400">
                <a:latin typeface="Work Sans"/>
                <a:ea typeface="Work Sans"/>
                <a:cs typeface="Work Sans"/>
                <a:sym typeface="Work Sans"/>
              </a:rPr>
              <a:t>Team members attempting to merge code would open a Pull Request, then request 1-2 reviewers to review their code changes and/or additions. </a:t>
            </a:r>
            <a:endParaRPr sz="1400">
              <a:latin typeface="Work Sans"/>
              <a:ea typeface="Work Sans"/>
              <a:cs typeface="Work Sans"/>
              <a:sym typeface="Work Sans"/>
            </a:endParaRPr>
          </a:p>
          <a:p>
            <a:pPr indent="-317500" lvl="0" marL="457200" rtl="0" algn="l">
              <a:spcBef>
                <a:spcPts val="0"/>
              </a:spcBef>
              <a:spcAft>
                <a:spcPts val="0"/>
              </a:spcAft>
              <a:buSzPts val="1400"/>
              <a:buFont typeface="Work Sans"/>
              <a:buChar char="-"/>
            </a:pPr>
            <a:r>
              <a:rPr lang="en" sz="1400">
                <a:latin typeface="Work Sans"/>
                <a:ea typeface="Work Sans"/>
                <a:cs typeface="Work Sans"/>
                <a:sym typeface="Work Sans"/>
              </a:rPr>
              <a:t>Discussion, comments, and revisions would happen as necessary before reviewers approved the changes. </a:t>
            </a:r>
            <a:endParaRPr sz="1400">
              <a:latin typeface="Work Sans"/>
              <a:ea typeface="Work Sans"/>
              <a:cs typeface="Work Sans"/>
              <a:sym typeface="Work Sans"/>
            </a:endParaRPr>
          </a:p>
          <a:p>
            <a:pPr indent="-317500" lvl="0" marL="457200" rtl="0" algn="l">
              <a:spcBef>
                <a:spcPts val="0"/>
              </a:spcBef>
              <a:spcAft>
                <a:spcPts val="0"/>
              </a:spcAft>
              <a:buSzPts val="1400"/>
              <a:buFont typeface="Work Sans"/>
              <a:buChar char="-"/>
            </a:pPr>
            <a:r>
              <a:rPr lang="en" sz="1400">
                <a:latin typeface="Work Sans"/>
                <a:ea typeface="Work Sans"/>
                <a:cs typeface="Work Sans"/>
                <a:sym typeface="Work Sans"/>
              </a:rPr>
              <a:t>Once approval from all reviewers had been given, the PR would be merged.</a:t>
            </a:r>
            <a:endParaRPr sz="1500">
              <a:latin typeface="Work Sans"/>
              <a:ea typeface="Work Sans"/>
              <a:cs typeface="Work Sans"/>
              <a:sym typeface="Work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42"/>
          <p:cNvPicPr preferRelativeResize="0"/>
          <p:nvPr/>
        </p:nvPicPr>
        <p:blipFill rotWithShape="1">
          <a:blip r:embed="rId3">
            <a:alphaModFix/>
          </a:blip>
          <a:srcRect b="5830" l="0" r="0" t="-5830"/>
          <a:stretch/>
        </p:blipFill>
        <p:spPr>
          <a:xfrm>
            <a:off x="-553850" y="2917475"/>
            <a:ext cx="2299401" cy="2299401"/>
          </a:xfrm>
          <a:prstGeom prst="rect">
            <a:avLst/>
          </a:prstGeom>
          <a:noFill/>
          <a:ln>
            <a:noFill/>
          </a:ln>
        </p:spPr>
      </p:pic>
      <p:sp>
        <p:nvSpPr>
          <p:cNvPr id="428" name="Google Shape;428;p42"/>
          <p:cNvSpPr txBox="1"/>
          <p:nvPr>
            <p:ph type="ctrTitle"/>
          </p:nvPr>
        </p:nvSpPr>
        <p:spPr>
          <a:xfrm>
            <a:off x="3689700" y="2242050"/>
            <a:ext cx="5017500" cy="65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latin typeface="Work Sans"/>
                <a:ea typeface="Work Sans"/>
                <a:cs typeface="Work Sans"/>
                <a:sym typeface="Work Sans"/>
              </a:rPr>
              <a:t>GitHub</a:t>
            </a:r>
            <a:endParaRPr sz="2800">
              <a:latin typeface="Work Sans"/>
              <a:ea typeface="Work Sans"/>
              <a:cs typeface="Work Sans"/>
              <a:sym typeface="Work Sans"/>
            </a:endParaRPr>
          </a:p>
        </p:txBody>
      </p:sp>
      <p:pic>
        <p:nvPicPr>
          <p:cNvPr id="429" name="Google Shape;429;p42"/>
          <p:cNvPicPr preferRelativeResize="0"/>
          <p:nvPr/>
        </p:nvPicPr>
        <p:blipFill>
          <a:blip r:embed="rId3">
            <a:alphaModFix/>
          </a:blip>
          <a:stretch>
            <a:fillRect/>
          </a:stretch>
        </p:blipFill>
        <p:spPr>
          <a:xfrm>
            <a:off x="-553850" y="-832550"/>
            <a:ext cx="3404298" cy="3404298"/>
          </a:xfrm>
          <a:prstGeom prst="rect">
            <a:avLst/>
          </a:prstGeom>
          <a:noFill/>
          <a:ln>
            <a:noFill/>
          </a:ln>
        </p:spPr>
      </p:pic>
      <p:pic>
        <p:nvPicPr>
          <p:cNvPr id="430" name="Google Shape;430;p42"/>
          <p:cNvPicPr preferRelativeResize="0"/>
          <p:nvPr/>
        </p:nvPicPr>
        <p:blipFill>
          <a:blip r:embed="rId4">
            <a:alphaModFix/>
          </a:blip>
          <a:stretch>
            <a:fillRect/>
          </a:stretch>
        </p:blipFill>
        <p:spPr>
          <a:xfrm>
            <a:off x="459275" y="673125"/>
            <a:ext cx="2779176" cy="2779176"/>
          </a:xfrm>
          <a:prstGeom prst="rect">
            <a:avLst/>
          </a:prstGeom>
          <a:noFill/>
          <a:ln>
            <a:noFill/>
          </a:ln>
        </p:spPr>
      </p:pic>
      <p:pic>
        <p:nvPicPr>
          <p:cNvPr id="431" name="Google Shape;431;p42"/>
          <p:cNvPicPr preferRelativeResize="0"/>
          <p:nvPr/>
        </p:nvPicPr>
        <p:blipFill>
          <a:blip r:embed="rId4">
            <a:alphaModFix/>
          </a:blip>
          <a:stretch>
            <a:fillRect/>
          </a:stretch>
        </p:blipFill>
        <p:spPr>
          <a:xfrm rot="6991265">
            <a:off x="-515887" y="1626675"/>
            <a:ext cx="2779176" cy="2779176"/>
          </a:xfrm>
          <a:prstGeom prst="rect">
            <a:avLst/>
          </a:prstGeom>
          <a:noFill/>
          <a:ln>
            <a:noFill/>
          </a:ln>
        </p:spPr>
      </p:pic>
      <p:pic>
        <p:nvPicPr>
          <p:cNvPr id="432" name="Google Shape;432;p42"/>
          <p:cNvPicPr preferRelativeResize="0"/>
          <p:nvPr/>
        </p:nvPicPr>
        <p:blipFill>
          <a:blip r:embed="rId5">
            <a:alphaModFix/>
          </a:blip>
          <a:stretch>
            <a:fillRect/>
          </a:stretch>
        </p:blipFill>
        <p:spPr>
          <a:xfrm>
            <a:off x="1519050" y="4827000"/>
            <a:ext cx="6105876" cy="604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43"/>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438" name="Google Shape;438;p43"/>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439" name="Google Shape;439;p43"/>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440" name="Google Shape;440;p4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GitHub</a:t>
            </a:r>
            <a:endParaRPr>
              <a:latin typeface="Work Sans"/>
              <a:ea typeface="Work Sans"/>
              <a:cs typeface="Work Sans"/>
              <a:sym typeface="Work Sans"/>
            </a:endParaRPr>
          </a:p>
        </p:txBody>
      </p:sp>
      <p:sp>
        <p:nvSpPr>
          <p:cNvPr id="441" name="Google Shape;441;p4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Used for:</a:t>
            </a:r>
            <a:endParaRPr sz="1800"/>
          </a:p>
          <a:p>
            <a:pPr indent="-342900" lvl="0" marL="457200" rtl="0" algn="l">
              <a:spcBef>
                <a:spcPts val="1200"/>
              </a:spcBef>
              <a:spcAft>
                <a:spcPts val="0"/>
              </a:spcAft>
              <a:buSzPts val="1800"/>
              <a:buChar char="-"/>
            </a:pPr>
            <a:r>
              <a:rPr lang="en" sz="1800"/>
              <a:t>Single source of truth</a:t>
            </a:r>
            <a:endParaRPr sz="1800"/>
          </a:p>
          <a:p>
            <a:pPr indent="-342900" lvl="0" marL="457200" rtl="0" algn="l">
              <a:spcBef>
                <a:spcPts val="0"/>
              </a:spcBef>
              <a:spcAft>
                <a:spcPts val="0"/>
              </a:spcAft>
              <a:buSzPts val="1800"/>
              <a:buChar char="-"/>
            </a:pPr>
            <a:r>
              <a:rPr lang="en" sz="1800"/>
              <a:t>Project Management </a:t>
            </a:r>
            <a:endParaRPr sz="1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44"/>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447" name="Google Shape;447;p44"/>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448" name="Google Shape;448;p44"/>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449" name="Google Shape;449;p4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GitHub: Single Source of Truth</a:t>
            </a:r>
            <a:endParaRPr>
              <a:latin typeface="Work Sans"/>
              <a:ea typeface="Work Sans"/>
              <a:cs typeface="Work Sans"/>
              <a:sym typeface="Work Sans"/>
            </a:endParaRPr>
          </a:p>
        </p:txBody>
      </p:sp>
      <p:pic>
        <p:nvPicPr>
          <p:cNvPr id="450" name="Google Shape;450;p44"/>
          <p:cNvPicPr preferRelativeResize="0"/>
          <p:nvPr/>
        </p:nvPicPr>
        <p:blipFill>
          <a:blip r:embed="rId6">
            <a:alphaModFix/>
          </a:blip>
          <a:stretch>
            <a:fillRect/>
          </a:stretch>
        </p:blipFill>
        <p:spPr>
          <a:xfrm>
            <a:off x="645561" y="1028800"/>
            <a:ext cx="2181686" cy="3214350"/>
          </a:xfrm>
          <a:prstGeom prst="rect">
            <a:avLst/>
          </a:prstGeom>
          <a:noFill/>
          <a:ln>
            <a:noFill/>
          </a:ln>
        </p:spPr>
      </p:pic>
      <p:pic>
        <p:nvPicPr>
          <p:cNvPr id="451" name="Google Shape;451;p44"/>
          <p:cNvPicPr preferRelativeResize="0"/>
          <p:nvPr/>
        </p:nvPicPr>
        <p:blipFill>
          <a:blip r:embed="rId7">
            <a:alphaModFix/>
          </a:blip>
          <a:stretch>
            <a:fillRect/>
          </a:stretch>
        </p:blipFill>
        <p:spPr>
          <a:xfrm rot="-5400000">
            <a:off x="5503919" y="35063"/>
            <a:ext cx="824037" cy="51435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p45"/>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457" name="Google Shape;457;p45"/>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458" name="Google Shape;458;p45"/>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459" name="Google Shape;459;p4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GitHub: Project Management</a:t>
            </a:r>
            <a:endParaRPr>
              <a:latin typeface="Work Sans"/>
              <a:ea typeface="Work Sans"/>
              <a:cs typeface="Work Sans"/>
              <a:sym typeface="Work Sans"/>
            </a:endParaRPr>
          </a:p>
        </p:txBody>
      </p:sp>
      <p:pic>
        <p:nvPicPr>
          <p:cNvPr id="460" name="Google Shape;460;p45"/>
          <p:cNvPicPr preferRelativeResize="0"/>
          <p:nvPr/>
        </p:nvPicPr>
        <p:blipFill>
          <a:blip r:embed="rId6">
            <a:alphaModFix/>
          </a:blip>
          <a:stretch>
            <a:fillRect/>
          </a:stretch>
        </p:blipFill>
        <p:spPr>
          <a:xfrm>
            <a:off x="2238699" y="1192875"/>
            <a:ext cx="6127044" cy="32143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46"/>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466" name="Google Shape;466;p46"/>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467" name="Google Shape;467;p46"/>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468" name="Google Shape;468;p4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Hardships</a:t>
            </a:r>
            <a:endParaRPr>
              <a:latin typeface="Work Sans"/>
              <a:ea typeface="Work Sans"/>
              <a:cs typeface="Work Sans"/>
              <a:sym typeface="Work Sans"/>
            </a:endParaRPr>
          </a:p>
        </p:txBody>
      </p:sp>
      <p:sp>
        <p:nvSpPr>
          <p:cNvPr id="469" name="Google Shape;469;p4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Scheduling time to merge</a:t>
            </a:r>
            <a:endParaRPr sz="1800"/>
          </a:p>
          <a:p>
            <a:pPr indent="-342900" lvl="0" marL="457200" rtl="0" algn="l">
              <a:spcBef>
                <a:spcPts val="0"/>
              </a:spcBef>
              <a:spcAft>
                <a:spcPts val="0"/>
              </a:spcAft>
              <a:buSzPts val="1800"/>
              <a:buChar char="-"/>
            </a:pPr>
            <a:r>
              <a:rPr lang="en" sz="1800"/>
              <a:t>Local &lt;-&gt; EC2</a:t>
            </a:r>
            <a:endParaRPr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47"/>
          <p:cNvPicPr preferRelativeResize="0"/>
          <p:nvPr/>
        </p:nvPicPr>
        <p:blipFill rotWithShape="1">
          <a:blip r:embed="rId3">
            <a:alphaModFix/>
          </a:blip>
          <a:srcRect b="5830" l="0" r="0" t="-5830"/>
          <a:stretch/>
        </p:blipFill>
        <p:spPr>
          <a:xfrm>
            <a:off x="-553850" y="2917475"/>
            <a:ext cx="2299401" cy="2299401"/>
          </a:xfrm>
          <a:prstGeom prst="rect">
            <a:avLst/>
          </a:prstGeom>
          <a:noFill/>
          <a:ln>
            <a:noFill/>
          </a:ln>
        </p:spPr>
      </p:pic>
      <p:sp>
        <p:nvSpPr>
          <p:cNvPr id="475" name="Google Shape;475;p47"/>
          <p:cNvSpPr txBox="1"/>
          <p:nvPr>
            <p:ph type="ctrTitle"/>
          </p:nvPr>
        </p:nvSpPr>
        <p:spPr>
          <a:xfrm>
            <a:off x="3689700" y="2242050"/>
            <a:ext cx="5017500" cy="65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latin typeface="Work Sans"/>
                <a:ea typeface="Work Sans"/>
                <a:cs typeface="Work Sans"/>
                <a:sym typeface="Work Sans"/>
              </a:rPr>
              <a:t>Future Plans</a:t>
            </a:r>
            <a:endParaRPr sz="2800">
              <a:latin typeface="Work Sans"/>
              <a:ea typeface="Work Sans"/>
              <a:cs typeface="Work Sans"/>
              <a:sym typeface="Work Sans"/>
            </a:endParaRPr>
          </a:p>
        </p:txBody>
      </p:sp>
      <p:pic>
        <p:nvPicPr>
          <p:cNvPr id="476" name="Google Shape;476;p47"/>
          <p:cNvPicPr preferRelativeResize="0"/>
          <p:nvPr/>
        </p:nvPicPr>
        <p:blipFill>
          <a:blip r:embed="rId3">
            <a:alphaModFix/>
          </a:blip>
          <a:stretch>
            <a:fillRect/>
          </a:stretch>
        </p:blipFill>
        <p:spPr>
          <a:xfrm>
            <a:off x="-553850" y="-832550"/>
            <a:ext cx="3404298" cy="3404298"/>
          </a:xfrm>
          <a:prstGeom prst="rect">
            <a:avLst/>
          </a:prstGeom>
          <a:noFill/>
          <a:ln>
            <a:noFill/>
          </a:ln>
        </p:spPr>
      </p:pic>
      <p:pic>
        <p:nvPicPr>
          <p:cNvPr id="477" name="Google Shape;477;p47"/>
          <p:cNvPicPr preferRelativeResize="0"/>
          <p:nvPr/>
        </p:nvPicPr>
        <p:blipFill>
          <a:blip r:embed="rId4">
            <a:alphaModFix/>
          </a:blip>
          <a:stretch>
            <a:fillRect/>
          </a:stretch>
        </p:blipFill>
        <p:spPr>
          <a:xfrm>
            <a:off x="459275" y="673125"/>
            <a:ext cx="2779176" cy="2779176"/>
          </a:xfrm>
          <a:prstGeom prst="rect">
            <a:avLst/>
          </a:prstGeom>
          <a:noFill/>
          <a:ln>
            <a:noFill/>
          </a:ln>
        </p:spPr>
      </p:pic>
      <p:pic>
        <p:nvPicPr>
          <p:cNvPr id="478" name="Google Shape;478;p47"/>
          <p:cNvPicPr preferRelativeResize="0"/>
          <p:nvPr/>
        </p:nvPicPr>
        <p:blipFill>
          <a:blip r:embed="rId4">
            <a:alphaModFix/>
          </a:blip>
          <a:stretch>
            <a:fillRect/>
          </a:stretch>
        </p:blipFill>
        <p:spPr>
          <a:xfrm rot="6991265">
            <a:off x="-515887" y="1626675"/>
            <a:ext cx="2779176" cy="2779176"/>
          </a:xfrm>
          <a:prstGeom prst="rect">
            <a:avLst/>
          </a:prstGeom>
          <a:noFill/>
          <a:ln>
            <a:noFill/>
          </a:ln>
        </p:spPr>
      </p:pic>
      <p:pic>
        <p:nvPicPr>
          <p:cNvPr id="479" name="Google Shape;479;p47"/>
          <p:cNvPicPr preferRelativeResize="0"/>
          <p:nvPr/>
        </p:nvPicPr>
        <p:blipFill>
          <a:blip r:embed="rId5">
            <a:alphaModFix/>
          </a:blip>
          <a:stretch>
            <a:fillRect/>
          </a:stretch>
        </p:blipFill>
        <p:spPr>
          <a:xfrm>
            <a:off x="1519050" y="4827000"/>
            <a:ext cx="6105876" cy="604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p48"/>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485" name="Google Shape;485;p48"/>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486" name="Google Shape;486;p48"/>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487" name="Google Shape;487;p4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Current State</a:t>
            </a:r>
            <a:endParaRPr>
              <a:latin typeface="Work Sans"/>
              <a:ea typeface="Work Sans"/>
              <a:cs typeface="Work Sans"/>
              <a:sym typeface="Work Sans"/>
            </a:endParaRPr>
          </a:p>
        </p:txBody>
      </p:sp>
      <p:sp>
        <p:nvSpPr>
          <p:cNvPr id="488" name="Google Shape;488;p48"/>
          <p:cNvSpPr txBox="1"/>
          <p:nvPr>
            <p:ph idx="1" type="body"/>
          </p:nvPr>
        </p:nvSpPr>
        <p:spPr>
          <a:xfrm>
            <a:off x="1297500" y="1187575"/>
            <a:ext cx="7038900" cy="2911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1800">
                <a:latin typeface="Work Sans"/>
                <a:ea typeface="Work Sans"/>
                <a:cs typeface="Work Sans"/>
                <a:sym typeface="Work Sans"/>
              </a:rPr>
              <a:t>Video hosting website</a:t>
            </a:r>
            <a:endParaRPr sz="1800">
              <a:latin typeface="Work Sans"/>
              <a:ea typeface="Work Sans"/>
              <a:cs typeface="Work Sans"/>
              <a:sym typeface="Work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id="493" name="Google Shape;493;p49"/>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494" name="Google Shape;494;p49"/>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495" name="Google Shape;495;p49"/>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496" name="Google Shape;496;p4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Work Sans"/>
                <a:ea typeface="Work Sans"/>
                <a:cs typeface="Work Sans"/>
                <a:sym typeface="Work Sans"/>
              </a:rPr>
              <a:t>Idea</a:t>
            </a:r>
            <a:endParaRPr>
              <a:latin typeface="Work Sans"/>
              <a:ea typeface="Work Sans"/>
              <a:cs typeface="Work Sans"/>
              <a:sym typeface="Work Sans"/>
            </a:endParaRPr>
          </a:p>
        </p:txBody>
      </p:sp>
      <p:sp>
        <p:nvSpPr>
          <p:cNvPr id="497" name="Google Shape;497;p49"/>
          <p:cNvSpPr txBox="1"/>
          <p:nvPr>
            <p:ph idx="1" type="body"/>
          </p:nvPr>
        </p:nvSpPr>
        <p:spPr>
          <a:xfrm>
            <a:off x="1297500" y="1180550"/>
            <a:ext cx="7038900" cy="2911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1800">
                <a:latin typeface="Work Sans"/>
                <a:ea typeface="Work Sans"/>
                <a:cs typeface="Work Sans"/>
                <a:sym typeface="Work Sans"/>
              </a:rPr>
              <a:t>Video hosting website</a:t>
            </a:r>
            <a:endParaRPr sz="1800">
              <a:latin typeface="Work Sans"/>
              <a:ea typeface="Work Sans"/>
              <a:cs typeface="Work Sans"/>
              <a:sym typeface="Work Sans"/>
            </a:endParaRPr>
          </a:p>
          <a:p>
            <a:pPr indent="0" lvl="0" marL="0" rtl="0" algn="ctr">
              <a:spcBef>
                <a:spcPts val="0"/>
              </a:spcBef>
              <a:spcAft>
                <a:spcPts val="0"/>
              </a:spcAft>
              <a:buNone/>
            </a:pPr>
            <a:r>
              <a:rPr lang="en" sz="1800">
                <a:latin typeface="Work Sans"/>
                <a:ea typeface="Work Sans"/>
                <a:cs typeface="Work Sans"/>
                <a:sym typeface="Work Sans"/>
              </a:rPr>
              <a:t>+</a:t>
            </a:r>
            <a:endParaRPr sz="1800">
              <a:latin typeface="Work Sans"/>
              <a:ea typeface="Work Sans"/>
              <a:cs typeface="Work Sans"/>
              <a:sym typeface="Work Sans"/>
            </a:endParaRPr>
          </a:p>
          <a:p>
            <a:pPr indent="0" lvl="0" marL="0" rtl="0" algn="ctr">
              <a:spcBef>
                <a:spcPts val="0"/>
              </a:spcBef>
              <a:spcAft>
                <a:spcPts val="0"/>
              </a:spcAft>
              <a:buNone/>
            </a:pPr>
            <a:r>
              <a:rPr lang="en" sz="1800">
                <a:latin typeface="Work Sans"/>
                <a:ea typeface="Work Sans"/>
                <a:cs typeface="Work Sans"/>
                <a:sym typeface="Work Sans"/>
              </a:rPr>
              <a:t>Finance</a:t>
            </a:r>
            <a:endParaRPr sz="1800">
              <a:latin typeface="Work Sans"/>
              <a:ea typeface="Work Sans"/>
              <a:cs typeface="Work Sans"/>
              <a:sym typeface="Work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p50"/>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503" name="Google Shape;503;p50"/>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504" name="Google Shape;504;p50"/>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505" name="Google Shape;505;p5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Possible Future Roadmap</a:t>
            </a:r>
            <a:endParaRPr/>
          </a:p>
        </p:txBody>
      </p:sp>
      <p:sp>
        <p:nvSpPr>
          <p:cNvPr id="506" name="Google Shape;506;p50"/>
          <p:cNvSpPr txBox="1"/>
          <p:nvPr>
            <p:ph idx="1" type="body"/>
          </p:nvPr>
        </p:nvSpPr>
        <p:spPr>
          <a:xfrm>
            <a:off x="1297500" y="1213625"/>
            <a:ext cx="7038900" cy="326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Milestone 1 (Fixing / Planning):</a:t>
            </a:r>
            <a:endParaRPr/>
          </a:p>
          <a:p>
            <a:pPr indent="-311150" lvl="0" marL="457200" rtl="0" algn="l">
              <a:spcBef>
                <a:spcPts val="1200"/>
              </a:spcBef>
              <a:spcAft>
                <a:spcPts val="0"/>
              </a:spcAft>
              <a:buSzPts val="1300"/>
              <a:buChar char="-"/>
            </a:pPr>
            <a:r>
              <a:rPr lang="en"/>
              <a:t>Fix URL 😬</a:t>
            </a:r>
            <a:endParaRPr/>
          </a:p>
          <a:p>
            <a:pPr indent="-311150" lvl="0" marL="457200" rtl="0" algn="l">
              <a:spcBef>
                <a:spcPts val="0"/>
              </a:spcBef>
              <a:spcAft>
                <a:spcPts val="0"/>
              </a:spcAft>
              <a:buSzPts val="1300"/>
              <a:buChar char="-"/>
            </a:pPr>
            <a:r>
              <a:rPr lang="en"/>
              <a:t>Clean up and organize codebase</a:t>
            </a:r>
            <a:endParaRPr/>
          </a:p>
          <a:p>
            <a:pPr indent="-311150" lvl="0" marL="457200" rtl="0" algn="l">
              <a:spcBef>
                <a:spcPts val="0"/>
              </a:spcBef>
              <a:spcAft>
                <a:spcPts val="0"/>
              </a:spcAft>
              <a:buSzPts val="1300"/>
              <a:buChar char="-"/>
            </a:pPr>
            <a:r>
              <a:rPr lang="en"/>
              <a:t>Javascript -&gt; Typescript</a:t>
            </a:r>
            <a:endParaRPr/>
          </a:p>
          <a:p>
            <a:pPr indent="-311150" lvl="0" marL="457200" rtl="0" algn="l">
              <a:spcBef>
                <a:spcPts val="0"/>
              </a:spcBef>
              <a:spcAft>
                <a:spcPts val="0"/>
              </a:spcAft>
              <a:buSzPts val="1300"/>
              <a:buChar char="-"/>
            </a:pPr>
            <a:r>
              <a:rPr lang="en"/>
              <a:t>Further develop product </a:t>
            </a:r>
            <a:endParaRPr/>
          </a:p>
          <a:p>
            <a:pPr indent="0" lvl="0" marL="0" rtl="0" algn="l">
              <a:spcBef>
                <a:spcPts val="1200"/>
              </a:spcBef>
              <a:spcAft>
                <a:spcPts val="0"/>
              </a:spcAft>
              <a:buNone/>
            </a:pPr>
            <a:r>
              <a:rPr lang="en"/>
              <a:t>Milestone 2 (Migrating):</a:t>
            </a:r>
            <a:endParaRPr/>
          </a:p>
          <a:p>
            <a:pPr indent="-311150" lvl="0" marL="457200" rtl="0" algn="l">
              <a:spcBef>
                <a:spcPts val="1200"/>
              </a:spcBef>
              <a:spcAft>
                <a:spcPts val="0"/>
              </a:spcAft>
              <a:buSzPts val="1300"/>
              <a:buChar char="-"/>
            </a:pPr>
            <a:r>
              <a:rPr lang="en"/>
              <a:t>Experiment with decentralized storage</a:t>
            </a:r>
            <a:endParaRPr/>
          </a:p>
          <a:p>
            <a:pPr indent="-311150" lvl="0" marL="457200" rtl="0" algn="l">
              <a:spcBef>
                <a:spcPts val="0"/>
              </a:spcBef>
              <a:spcAft>
                <a:spcPts val="0"/>
              </a:spcAft>
              <a:buSzPts val="1300"/>
              <a:buChar char="-"/>
            </a:pPr>
            <a:r>
              <a:rPr lang="en"/>
              <a:t>Experiment with smart contracts / parallel chains</a:t>
            </a:r>
            <a:endParaRPr/>
          </a:p>
          <a:p>
            <a:pPr indent="-311150" lvl="0" marL="457200" rtl="0" algn="l">
              <a:spcBef>
                <a:spcPts val="0"/>
              </a:spcBef>
              <a:spcAft>
                <a:spcPts val="0"/>
              </a:spcAft>
              <a:buSzPts val="1300"/>
              <a:buChar char="-"/>
            </a:pPr>
            <a:r>
              <a:rPr lang="en"/>
              <a:t>Experiment with deployment to test networks</a:t>
            </a:r>
            <a:endParaRPr/>
          </a:p>
          <a:p>
            <a:pPr indent="-311150" lvl="0" marL="457200" rtl="0" algn="l">
              <a:spcBef>
                <a:spcPts val="0"/>
              </a:spcBef>
              <a:spcAft>
                <a:spcPts val="0"/>
              </a:spcAft>
              <a:buSzPts val="1300"/>
              <a:buChar char="-"/>
            </a:pPr>
            <a:r>
              <a:rPr lang="en"/>
              <a:t>Research and integrate with lending protocols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p51"/>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512" name="Google Shape;512;p51"/>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513" name="Google Shape;513;p51"/>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514" name="Google Shape;514;p5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Flow</a:t>
            </a:r>
            <a:endParaRPr/>
          </a:p>
        </p:txBody>
      </p:sp>
      <p:pic>
        <p:nvPicPr>
          <p:cNvPr id="515" name="Google Shape;515;p51"/>
          <p:cNvPicPr preferRelativeResize="0"/>
          <p:nvPr/>
        </p:nvPicPr>
        <p:blipFill>
          <a:blip r:embed="rId6">
            <a:alphaModFix/>
          </a:blip>
          <a:stretch>
            <a:fillRect/>
          </a:stretch>
        </p:blipFill>
        <p:spPr>
          <a:xfrm>
            <a:off x="711640" y="2716854"/>
            <a:ext cx="1834999" cy="1239045"/>
          </a:xfrm>
          <a:prstGeom prst="rect">
            <a:avLst/>
          </a:prstGeom>
          <a:noFill/>
          <a:ln>
            <a:noFill/>
          </a:ln>
        </p:spPr>
      </p:pic>
      <p:pic>
        <p:nvPicPr>
          <p:cNvPr id="516" name="Google Shape;516;p51"/>
          <p:cNvPicPr preferRelativeResize="0"/>
          <p:nvPr/>
        </p:nvPicPr>
        <p:blipFill>
          <a:blip r:embed="rId7">
            <a:alphaModFix/>
          </a:blip>
          <a:stretch>
            <a:fillRect/>
          </a:stretch>
        </p:blipFill>
        <p:spPr>
          <a:xfrm>
            <a:off x="6214775" y="773100"/>
            <a:ext cx="2634902" cy="1331182"/>
          </a:xfrm>
          <a:prstGeom prst="rect">
            <a:avLst/>
          </a:prstGeom>
          <a:noFill/>
          <a:ln>
            <a:noFill/>
          </a:ln>
        </p:spPr>
      </p:pic>
      <p:pic>
        <p:nvPicPr>
          <p:cNvPr id="517" name="Google Shape;517;p51"/>
          <p:cNvPicPr preferRelativeResize="0"/>
          <p:nvPr/>
        </p:nvPicPr>
        <p:blipFill>
          <a:blip r:embed="rId8">
            <a:alphaModFix/>
          </a:blip>
          <a:stretch>
            <a:fillRect/>
          </a:stretch>
        </p:blipFill>
        <p:spPr>
          <a:xfrm>
            <a:off x="3506438" y="789713"/>
            <a:ext cx="1211200" cy="1297950"/>
          </a:xfrm>
          <a:prstGeom prst="rect">
            <a:avLst/>
          </a:prstGeom>
          <a:noFill/>
          <a:ln>
            <a:noFill/>
          </a:ln>
        </p:spPr>
      </p:pic>
      <p:cxnSp>
        <p:nvCxnSpPr>
          <p:cNvPr id="518" name="Google Shape;518;p51"/>
          <p:cNvCxnSpPr>
            <a:stCxn id="516" idx="1"/>
            <a:endCxn id="517" idx="3"/>
          </p:cNvCxnSpPr>
          <p:nvPr/>
        </p:nvCxnSpPr>
        <p:spPr>
          <a:xfrm rot="10800000">
            <a:off x="4717775" y="1438691"/>
            <a:ext cx="1497000" cy="0"/>
          </a:xfrm>
          <a:prstGeom prst="straightConnector1">
            <a:avLst/>
          </a:prstGeom>
          <a:noFill/>
          <a:ln cap="flat" cmpd="sng" w="9525">
            <a:solidFill>
              <a:schemeClr val="dk2"/>
            </a:solidFill>
            <a:prstDash val="solid"/>
            <a:round/>
            <a:headEnd len="med" w="med" type="triangle"/>
            <a:tailEnd len="med" w="med" type="triangle"/>
          </a:ln>
        </p:spPr>
      </p:cxnSp>
      <p:sp>
        <p:nvSpPr>
          <p:cNvPr id="519" name="Google Shape;519;p51"/>
          <p:cNvSpPr txBox="1"/>
          <p:nvPr/>
        </p:nvSpPr>
        <p:spPr>
          <a:xfrm>
            <a:off x="4760000" y="984500"/>
            <a:ext cx="183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Work Sans"/>
                <a:ea typeface="Work Sans"/>
                <a:cs typeface="Work Sans"/>
                <a:sym typeface="Work Sans"/>
              </a:rPr>
              <a:t>Authentication</a:t>
            </a:r>
            <a:endParaRPr>
              <a:solidFill>
                <a:schemeClr val="lt1"/>
              </a:solidFill>
              <a:latin typeface="Work Sans"/>
              <a:ea typeface="Work Sans"/>
              <a:cs typeface="Work Sans"/>
              <a:sym typeface="Work Sans"/>
            </a:endParaRPr>
          </a:p>
        </p:txBody>
      </p:sp>
      <p:pic>
        <p:nvPicPr>
          <p:cNvPr id="520" name="Google Shape;520;p51"/>
          <p:cNvPicPr preferRelativeResize="0"/>
          <p:nvPr/>
        </p:nvPicPr>
        <p:blipFill>
          <a:blip r:embed="rId9">
            <a:alphaModFix/>
          </a:blip>
          <a:stretch>
            <a:fillRect/>
          </a:stretch>
        </p:blipFill>
        <p:spPr>
          <a:xfrm>
            <a:off x="6835761" y="2638624"/>
            <a:ext cx="1378875" cy="1378875"/>
          </a:xfrm>
          <a:prstGeom prst="rect">
            <a:avLst/>
          </a:prstGeom>
          <a:noFill/>
          <a:ln>
            <a:noFill/>
          </a:ln>
        </p:spPr>
      </p:pic>
      <p:cxnSp>
        <p:nvCxnSpPr>
          <p:cNvPr id="521" name="Google Shape;521;p51"/>
          <p:cNvCxnSpPr>
            <a:stCxn id="516" idx="2"/>
            <a:endCxn id="520" idx="0"/>
          </p:cNvCxnSpPr>
          <p:nvPr/>
        </p:nvCxnSpPr>
        <p:spPr>
          <a:xfrm flipH="1">
            <a:off x="7525326" y="2104282"/>
            <a:ext cx="6900" cy="534300"/>
          </a:xfrm>
          <a:prstGeom prst="straightConnector1">
            <a:avLst/>
          </a:prstGeom>
          <a:noFill/>
          <a:ln cap="flat" cmpd="sng" w="9525">
            <a:solidFill>
              <a:schemeClr val="dk2"/>
            </a:solidFill>
            <a:prstDash val="solid"/>
            <a:round/>
            <a:headEnd len="med" w="med" type="triangle"/>
            <a:tailEnd len="med" w="med" type="triangle"/>
          </a:ln>
        </p:spPr>
      </p:cxnSp>
      <p:cxnSp>
        <p:nvCxnSpPr>
          <p:cNvPr id="522" name="Google Shape;522;p51"/>
          <p:cNvCxnSpPr>
            <a:stCxn id="520" idx="1"/>
            <a:endCxn id="515" idx="3"/>
          </p:cNvCxnSpPr>
          <p:nvPr/>
        </p:nvCxnSpPr>
        <p:spPr>
          <a:xfrm flipH="1">
            <a:off x="2546661" y="3328061"/>
            <a:ext cx="4289100" cy="8400"/>
          </a:xfrm>
          <a:prstGeom prst="straightConnector1">
            <a:avLst/>
          </a:prstGeom>
          <a:noFill/>
          <a:ln cap="flat" cmpd="sng" w="9525">
            <a:solidFill>
              <a:schemeClr val="dk2"/>
            </a:solidFill>
            <a:prstDash val="solid"/>
            <a:round/>
            <a:headEnd len="med" w="med" type="triangle"/>
            <a:tailEnd len="med" w="med" type="triangle"/>
          </a:ln>
        </p:spPr>
      </p:cxnSp>
      <p:sp>
        <p:nvSpPr>
          <p:cNvPr id="523" name="Google Shape;523;p51"/>
          <p:cNvSpPr txBox="1"/>
          <p:nvPr/>
        </p:nvSpPr>
        <p:spPr>
          <a:xfrm>
            <a:off x="7578450" y="2171350"/>
            <a:ext cx="132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Work Sans"/>
                <a:ea typeface="Work Sans"/>
                <a:cs typeface="Work Sans"/>
                <a:sym typeface="Work Sans"/>
              </a:rPr>
              <a:t>Backend</a:t>
            </a:r>
            <a:endParaRPr>
              <a:solidFill>
                <a:schemeClr val="lt1"/>
              </a:solidFill>
              <a:latin typeface="Work Sans"/>
              <a:ea typeface="Work Sans"/>
              <a:cs typeface="Work Sans"/>
              <a:sym typeface="Work Sans"/>
            </a:endParaRPr>
          </a:p>
        </p:txBody>
      </p:sp>
      <p:sp>
        <p:nvSpPr>
          <p:cNvPr id="524" name="Google Shape;524;p51"/>
          <p:cNvSpPr txBox="1"/>
          <p:nvPr/>
        </p:nvSpPr>
        <p:spPr>
          <a:xfrm>
            <a:off x="3987750" y="4164675"/>
            <a:ext cx="165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Work Sans"/>
                <a:ea typeface="Work Sans"/>
                <a:cs typeface="Work Sans"/>
                <a:sym typeface="Work Sans"/>
              </a:rPr>
              <a:t>Cross Chain Interoperability</a:t>
            </a:r>
            <a:endParaRPr>
              <a:solidFill>
                <a:schemeClr val="lt1"/>
              </a:solidFill>
              <a:latin typeface="Work Sans"/>
              <a:ea typeface="Work Sans"/>
              <a:cs typeface="Work Sans"/>
              <a:sym typeface="Work Sans"/>
            </a:endParaRPr>
          </a:p>
        </p:txBody>
      </p:sp>
      <p:sp>
        <p:nvSpPr>
          <p:cNvPr id="525" name="Google Shape;525;p51"/>
          <p:cNvSpPr txBox="1"/>
          <p:nvPr/>
        </p:nvSpPr>
        <p:spPr>
          <a:xfrm>
            <a:off x="2408525" y="2679525"/>
            <a:ext cx="1497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Work Sans"/>
                <a:ea typeface="Work Sans"/>
                <a:cs typeface="Work Sans"/>
                <a:sym typeface="Work Sans"/>
              </a:rPr>
              <a:t>Prize</a:t>
            </a:r>
            <a:endParaRPr>
              <a:solidFill>
                <a:schemeClr val="lt1"/>
              </a:solidFill>
              <a:latin typeface="Work Sans"/>
              <a:ea typeface="Work Sans"/>
              <a:cs typeface="Work Sans"/>
              <a:sym typeface="Work Sans"/>
            </a:endParaRPr>
          </a:p>
          <a:p>
            <a:pPr indent="0" lvl="0" marL="0" rtl="0" algn="ctr">
              <a:spcBef>
                <a:spcPts val="0"/>
              </a:spcBef>
              <a:spcAft>
                <a:spcPts val="0"/>
              </a:spcAft>
              <a:buNone/>
            </a:pPr>
            <a:r>
              <a:rPr lang="en">
                <a:solidFill>
                  <a:schemeClr val="lt1"/>
                </a:solidFill>
                <a:latin typeface="Work Sans"/>
                <a:ea typeface="Work Sans"/>
                <a:cs typeface="Work Sans"/>
                <a:sym typeface="Work Sans"/>
              </a:rPr>
              <a:t>Money</a:t>
            </a:r>
            <a:endParaRPr>
              <a:solidFill>
                <a:schemeClr val="lt1"/>
              </a:solidFill>
              <a:latin typeface="Work Sans"/>
              <a:ea typeface="Work Sans"/>
              <a:cs typeface="Work Sans"/>
              <a:sym typeface="Work Sans"/>
            </a:endParaRPr>
          </a:p>
        </p:txBody>
      </p:sp>
      <p:pic>
        <p:nvPicPr>
          <p:cNvPr id="526" name="Google Shape;526;p51"/>
          <p:cNvPicPr preferRelativeResize="0"/>
          <p:nvPr/>
        </p:nvPicPr>
        <p:blipFill>
          <a:blip r:embed="rId10">
            <a:alphaModFix/>
          </a:blip>
          <a:stretch>
            <a:fillRect/>
          </a:stretch>
        </p:blipFill>
        <p:spPr>
          <a:xfrm>
            <a:off x="8296600" y="1020249"/>
            <a:ext cx="576399" cy="576399"/>
          </a:xfrm>
          <a:prstGeom prst="rect">
            <a:avLst/>
          </a:prstGeom>
          <a:noFill/>
          <a:ln>
            <a:noFill/>
          </a:ln>
        </p:spPr>
      </p:pic>
      <p:sp>
        <p:nvSpPr>
          <p:cNvPr id="527" name="Google Shape;527;p51"/>
          <p:cNvSpPr txBox="1"/>
          <p:nvPr/>
        </p:nvSpPr>
        <p:spPr>
          <a:xfrm>
            <a:off x="6232782" y="382025"/>
            <a:ext cx="2598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Work Sans"/>
                <a:ea typeface="Work Sans"/>
                <a:cs typeface="Work Sans"/>
                <a:sym typeface="Work Sans"/>
              </a:rPr>
              <a:t>Frontend / video storage</a:t>
            </a:r>
            <a:endParaRPr>
              <a:solidFill>
                <a:schemeClr val="lt1"/>
              </a:solidFill>
              <a:latin typeface="Work Sans"/>
              <a:ea typeface="Work Sans"/>
              <a:cs typeface="Work Sans"/>
              <a:sym typeface="Work Sans"/>
            </a:endParaRPr>
          </a:p>
        </p:txBody>
      </p:sp>
      <p:grpSp>
        <p:nvGrpSpPr>
          <p:cNvPr id="528" name="Google Shape;528;p51"/>
          <p:cNvGrpSpPr/>
          <p:nvPr/>
        </p:nvGrpSpPr>
        <p:grpSpPr>
          <a:xfrm>
            <a:off x="3696475" y="2716534"/>
            <a:ext cx="1878901" cy="1068950"/>
            <a:chOff x="2480800" y="3593697"/>
            <a:chExt cx="1878901" cy="1068950"/>
          </a:xfrm>
        </p:grpSpPr>
        <p:grpSp>
          <p:nvGrpSpPr>
            <p:cNvPr id="529" name="Google Shape;529;p51"/>
            <p:cNvGrpSpPr/>
            <p:nvPr/>
          </p:nvGrpSpPr>
          <p:grpSpPr>
            <a:xfrm>
              <a:off x="2480800" y="3593697"/>
              <a:ext cx="1754126" cy="1068950"/>
              <a:chOff x="3525663" y="3514509"/>
              <a:chExt cx="1754126" cy="1068950"/>
            </a:xfrm>
          </p:grpSpPr>
          <p:pic>
            <p:nvPicPr>
              <p:cNvPr id="530" name="Google Shape;530;p51"/>
              <p:cNvPicPr preferRelativeResize="0"/>
              <p:nvPr/>
            </p:nvPicPr>
            <p:blipFill>
              <a:blip r:embed="rId11">
                <a:alphaModFix/>
              </a:blip>
              <a:stretch>
                <a:fillRect/>
              </a:stretch>
            </p:blipFill>
            <p:spPr>
              <a:xfrm>
                <a:off x="3654767" y="3514509"/>
                <a:ext cx="1625022" cy="1013927"/>
              </a:xfrm>
              <a:prstGeom prst="rect">
                <a:avLst/>
              </a:prstGeom>
              <a:noFill/>
              <a:ln>
                <a:noFill/>
              </a:ln>
            </p:spPr>
          </p:pic>
          <p:pic>
            <p:nvPicPr>
              <p:cNvPr id="531" name="Google Shape;531;p51"/>
              <p:cNvPicPr preferRelativeResize="0"/>
              <p:nvPr/>
            </p:nvPicPr>
            <p:blipFill>
              <a:blip r:embed="rId12">
                <a:alphaModFix/>
              </a:blip>
              <a:stretch>
                <a:fillRect/>
              </a:stretch>
            </p:blipFill>
            <p:spPr>
              <a:xfrm>
                <a:off x="3525663" y="3935643"/>
                <a:ext cx="934244" cy="647817"/>
              </a:xfrm>
              <a:prstGeom prst="rect">
                <a:avLst/>
              </a:prstGeom>
              <a:noFill/>
              <a:ln>
                <a:noFill/>
              </a:ln>
            </p:spPr>
          </p:pic>
        </p:grpSp>
        <p:pic>
          <p:nvPicPr>
            <p:cNvPr id="532" name="Google Shape;532;p51"/>
            <p:cNvPicPr preferRelativeResize="0"/>
            <p:nvPr/>
          </p:nvPicPr>
          <p:blipFill>
            <a:blip r:embed="rId13">
              <a:alphaModFix/>
            </a:blip>
            <a:stretch>
              <a:fillRect/>
            </a:stretch>
          </p:blipFill>
          <p:spPr>
            <a:xfrm>
              <a:off x="3662950" y="4226373"/>
              <a:ext cx="696751" cy="436271"/>
            </a:xfrm>
            <a:prstGeom prst="rect">
              <a:avLst/>
            </a:prstGeom>
            <a:noFill/>
            <a:ln>
              <a:noFill/>
            </a:ln>
          </p:spPr>
        </p:pic>
      </p:grpSp>
      <p:sp>
        <p:nvSpPr>
          <p:cNvPr id="533" name="Google Shape;533;p51"/>
          <p:cNvSpPr txBox="1"/>
          <p:nvPr/>
        </p:nvSpPr>
        <p:spPr>
          <a:xfrm>
            <a:off x="3644575" y="2332575"/>
            <a:ext cx="1982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Work Sans"/>
                <a:ea typeface="Work Sans"/>
                <a:cs typeface="Work Sans"/>
                <a:sym typeface="Work Sans"/>
              </a:rPr>
              <a:t>L0 Consensus Layer</a:t>
            </a:r>
            <a:endParaRPr>
              <a:solidFill>
                <a:schemeClr val="lt1"/>
              </a:solidFill>
              <a:latin typeface="Work Sans"/>
              <a:ea typeface="Work Sans"/>
              <a:cs typeface="Work Sans"/>
              <a:sym typeface="Work Sans"/>
            </a:endParaRPr>
          </a:p>
        </p:txBody>
      </p:sp>
      <p:sp>
        <p:nvSpPr>
          <p:cNvPr id="534" name="Google Shape;534;p51"/>
          <p:cNvSpPr txBox="1"/>
          <p:nvPr/>
        </p:nvSpPr>
        <p:spPr>
          <a:xfrm>
            <a:off x="8148300" y="2835350"/>
            <a:ext cx="9957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Work Sans"/>
                <a:ea typeface="Work Sans"/>
                <a:cs typeface="Work Sans"/>
                <a:sym typeface="Work Sans"/>
              </a:rPr>
              <a:t>L1 Smart Contract Layer</a:t>
            </a:r>
            <a:endParaRPr>
              <a:solidFill>
                <a:schemeClr val="lt1"/>
              </a:solidFill>
              <a:latin typeface="Work Sans"/>
              <a:ea typeface="Work Sans"/>
              <a:cs typeface="Work Sans"/>
              <a:sym typeface="Work Sans"/>
            </a:endParaRPr>
          </a:p>
        </p:txBody>
      </p:sp>
      <p:sp>
        <p:nvSpPr>
          <p:cNvPr id="535" name="Google Shape;535;p51"/>
          <p:cNvSpPr txBox="1"/>
          <p:nvPr/>
        </p:nvSpPr>
        <p:spPr>
          <a:xfrm>
            <a:off x="818050" y="2332575"/>
            <a:ext cx="1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Work Sans"/>
                <a:ea typeface="Work Sans"/>
                <a:cs typeface="Work Sans"/>
                <a:sym typeface="Work Sans"/>
              </a:rPr>
              <a:t>Lending protocol</a:t>
            </a:r>
            <a:endParaRPr>
              <a:solidFill>
                <a:schemeClr val="lt1"/>
              </a:solidFill>
              <a:latin typeface="Work Sans"/>
              <a:ea typeface="Work Sans"/>
              <a:cs typeface="Work Sans"/>
              <a:sym typeface="Work Sans"/>
            </a:endParaRPr>
          </a:p>
        </p:txBody>
      </p:sp>
      <p:cxnSp>
        <p:nvCxnSpPr>
          <p:cNvPr id="536" name="Google Shape;536;p51"/>
          <p:cNvCxnSpPr>
            <a:endCxn id="515" idx="2"/>
          </p:cNvCxnSpPr>
          <p:nvPr/>
        </p:nvCxnSpPr>
        <p:spPr>
          <a:xfrm rot="10800000">
            <a:off x="1629139" y="3955899"/>
            <a:ext cx="2358600" cy="516600"/>
          </a:xfrm>
          <a:prstGeom prst="bentConnector2">
            <a:avLst/>
          </a:prstGeom>
          <a:noFill/>
          <a:ln cap="flat" cmpd="sng" w="9525">
            <a:solidFill>
              <a:srgbClr val="FF00FF"/>
            </a:solidFill>
            <a:prstDash val="solid"/>
            <a:round/>
            <a:headEnd len="med" w="med" type="none"/>
            <a:tailEnd len="med" w="med" type="none"/>
          </a:ln>
        </p:spPr>
      </p:cxnSp>
      <p:cxnSp>
        <p:nvCxnSpPr>
          <p:cNvPr id="537" name="Google Shape;537;p51"/>
          <p:cNvCxnSpPr>
            <a:stCxn id="524" idx="3"/>
            <a:endCxn id="520" idx="2"/>
          </p:cNvCxnSpPr>
          <p:nvPr/>
        </p:nvCxnSpPr>
        <p:spPr>
          <a:xfrm flipH="1" rot="10800000">
            <a:off x="5646150" y="4017375"/>
            <a:ext cx="1878900" cy="455100"/>
          </a:xfrm>
          <a:prstGeom prst="bentConnector2">
            <a:avLst/>
          </a:prstGeom>
          <a:noFill/>
          <a:ln cap="flat" cmpd="sng" w="9525">
            <a:solidFill>
              <a:srgbClr val="FF00FF"/>
            </a:solidFill>
            <a:prstDash val="solid"/>
            <a:round/>
            <a:headEnd len="med" w="med" type="none"/>
            <a:tailEnd len="med" w="med" type="none"/>
          </a:ln>
        </p:spPr>
      </p:cxnSp>
      <p:sp>
        <p:nvSpPr>
          <p:cNvPr id="538" name="Google Shape;538;p51"/>
          <p:cNvSpPr txBox="1"/>
          <p:nvPr/>
        </p:nvSpPr>
        <p:spPr>
          <a:xfrm>
            <a:off x="3506500" y="393750"/>
            <a:ext cx="121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Work Sans"/>
                <a:ea typeface="Work Sans"/>
                <a:cs typeface="Work Sans"/>
                <a:sym typeface="Work Sans"/>
              </a:rPr>
              <a:t>User Auth</a:t>
            </a:r>
            <a:endParaRPr>
              <a:solidFill>
                <a:schemeClr val="lt1"/>
              </a:solidFill>
              <a:latin typeface="Work Sans"/>
              <a:ea typeface="Work Sans"/>
              <a:cs typeface="Work Sans"/>
              <a:sym typeface="Work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pic>
        <p:nvPicPr>
          <p:cNvPr id="543" name="Google Shape;543;p52"/>
          <p:cNvPicPr preferRelativeResize="0"/>
          <p:nvPr/>
        </p:nvPicPr>
        <p:blipFill>
          <a:blip r:embed="rId3">
            <a:alphaModFix/>
          </a:blip>
          <a:stretch>
            <a:fillRect/>
          </a:stretch>
        </p:blipFill>
        <p:spPr>
          <a:xfrm>
            <a:off x="-1773025" y="-1417475"/>
            <a:ext cx="3845249" cy="3845249"/>
          </a:xfrm>
          <a:prstGeom prst="rect">
            <a:avLst/>
          </a:prstGeom>
          <a:noFill/>
          <a:ln>
            <a:noFill/>
          </a:ln>
        </p:spPr>
      </p:pic>
      <p:pic>
        <p:nvPicPr>
          <p:cNvPr id="544" name="Google Shape;544;p52"/>
          <p:cNvPicPr preferRelativeResize="0"/>
          <p:nvPr/>
        </p:nvPicPr>
        <p:blipFill>
          <a:blip r:embed="rId4">
            <a:alphaModFix/>
          </a:blip>
          <a:stretch>
            <a:fillRect/>
          </a:stretch>
        </p:blipFill>
        <p:spPr>
          <a:xfrm rot="-9453176">
            <a:off x="-1773022" y="228401"/>
            <a:ext cx="2981922" cy="2981922"/>
          </a:xfrm>
          <a:prstGeom prst="rect">
            <a:avLst/>
          </a:prstGeom>
          <a:noFill/>
          <a:ln>
            <a:noFill/>
          </a:ln>
        </p:spPr>
      </p:pic>
      <p:pic>
        <p:nvPicPr>
          <p:cNvPr id="545" name="Google Shape;545;p52"/>
          <p:cNvPicPr preferRelativeResize="0"/>
          <p:nvPr/>
        </p:nvPicPr>
        <p:blipFill>
          <a:blip r:embed="rId5">
            <a:alphaModFix/>
          </a:blip>
          <a:stretch>
            <a:fillRect/>
          </a:stretch>
        </p:blipFill>
        <p:spPr>
          <a:xfrm>
            <a:off x="1519050" y="4827000"/>
            <a:ext cx="6105876" cy="60425"/>
          </a:xfrm>
          <a:prstGeom prst="rect">
            <a:avLst/>
          </a:prstGeom>
          <a:noFill/>
          <a:ln>
            <a:noFill/>
          </a:ln>
        </p:spPr>
      </p:pic>
      <p:sp>
        <p:nvSpPr>
          <p:cNvPr id="546" name="Google Shape;546;p5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Challenges</a:t>
            </a:r>
            <a:endParaRPr/>
          </a:p>
        </p:txBody>
      </p:sp>
      <p:sp>
        <p:nvSpPr>
          <p:cNvPr id="547" name="Google Shape;547;p52"/>
          <p:cNvSpPr txBox="1"/>
          <p:nvPr>
            <p:ph idx="1" type="body"/>
          </p:nvPr>
        </p:nvSpPr>
        <p:spPr>
          <a:xfrm>
            <a:off x="1297500" y="1213625"/>
            <a:ext cx="7038900" cy="3265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Technical</a:t>
            </a:r>
            <a:endParaRPr/>
          </a:p>
          <a:p>
            <a:pPr indent="-311150" lvl="0" marL="457200" rtl="0" algn="l">
              <a:spcBef>
                <a:spcPts val="1200"/>
              </a:spcBef>
              <a:spcAft>
                <a:spcPts val="0"/>
              </a:spcAft>
              <a:buSzPts val="1300"/>
              <a:buChar char="-"/>
            </a:pPr>
            <a:r>
              <a:rPr lang="en"/>
              <a:t>Unstable technologies</a:t>
            </a:r>
            <a:endParaRPr/>
          </a:p>
          <a:p>
            <a:pPr indent="-311150" lvl="0" marL="457200" rtl="0" algn="l">
              <a:spcBef>
                <a:spcPts val="0"/>
              </a:spcBef>
              <a:spcAft>
                <a:spcPts val="0"/>
              </a:spcAft>
              <a:buSzPts val="1300"/>
              <a:buChar char="-"/>
            </a:pPr>
            <a:r>
              <a:rPr lang="en"/>
              <a:t>Poor UX</a:t>
            </a:r>
            <a:endParaRPr/>
          </a:p>
          <a:p>
            <a:pPr indent="-311150" lvl="0" marL="457200" rtl="0" algn="l">
              <a:spcBef>
                <a:spcPts val="0"/>
              </a:spcBef>
              <a:spcAft>
                <a:spcPts val="0"/>
              </a:spcAft>
              <a:buSzPts val="1300"/>
              <a:buChar char="-"/>
            </a:pPr>
            <a:r>
              <a:rPr lang="en"/>
              <a:t>Exploitable mechanics</a:t>
            </a:r>
            <a:endParaRPr/>
          </a:p>
          <a:p>
            <a:pPr indent="-311150" lvl="0" marL="457200" rtl="0" algn="l">
              <a:spcBef>
                <a:spcPts val="0"/>
              </a:spcBef>
              <a:spcAft>
                <a:spcPts val="0"/>
              </a:spcAft>
              <a:buSzPts val="1300"/>
              <a:buChar char="-"/>
            </a:pPr>
            <a:r>
              <a:rPr lang="en"/>
              <a:t>Unexpected requirements</a:t>
            </a:r>
            <a:endParaRPr/>
          </a:p>
          <a:p>
            <a:pPr indent="-311150" lvl="0" marL="457200" rtl="0" algn="l">
              <a:spcBef>
                <a:spcPts val="0"/>
              </a:spcBef>
              <a:spcAft>
                <a:spcPts val="0"/>
              </a:spcAft>
              <a:buSzPts val="1300"/>
              <a:buChar char="-"/>
            </a:pPr>
            <a:r>
              <a:rPr lang="en"/>
              <a:t>Business Model</a:t>
            </a:r>
            <a:endParaRPr/>
          </a:p>
          <a:p>
            <a:pPr indent="0" lvl="0" marL="0" rtl="0" algn="l">
              <a:spcBef>
                <a:spcPts val="1200"/>
              </a:spcBef>
              <a:spcAft>
                <a:spcPts val="0"/>
              </a:spcAft>
              <a:buNone/>
            </a:pPr>
            <a:r>
              <a:rPr lang="en"/>
              <a:t>Team</a:t>
            </a:r>
            <a:endParaRPr/>
          </a:p>
          <a:p>
            <a:pPr indent="-311150" lvl="0" marL="457200" rtl="0" algn="l">
              <a:spcBef>
                <a:spcPts val="1200"/>
              </a:spcBef>
              <a:spcAft>
                <a:spcPts val="0"/>
              </a:spcAft>
              <a:buSzPts val="1300"/>
              <a:buChar char="-"/>
            </a:pPr>
            <a:r>
              <a:rPr lang="en"/>
              <a:t>Scheduling</a:t>
            </a:r>
            <a:endParaRPr/>
          </a:p>
          <a:p>
            <a:pPr indent="-311150" lvl="0" marL="457200" rtl="0" algn="l">
              <a:spcBef>
                <a:spcPts val="0"/>
              </a:spcBef>
              <a:spcAft>
                <a:spcPts val="0"/>
              </a:spcAft>
              <a:buSzPts val="1300"/>
              <a:buChar char="-"/>
            </a:pPr>
            <a:r>
              <a:rPr lang="en"/>
              <a:t>Different priorities</a:t>
            </a:r>
            <a:endParaRPr/>
          </a:p>
          <a:p>
            <a:pPr indent="0" lvl="0" marL="0" rtl="0" algn="l">
              <a:spcBef>
                <a:spcPts val="1200"/>
              </a:spcBef>
              <a:spcAft>
                <a:spcPts val="0"/>
              </a:spcAft>
              <a:buNone/>
            </a:pPr>
            <a:r>
              <a:rPr lang="en"/>
              <a:t>Legal</a:t>
            </a:r>
            <a:endParaRPr/>
          </a:p>
          <a:p>
            <a:pPr indent="-311150" lvl="0" marL="457200" rtl="0" algn="l">
              <a:spcBef>
                <a:spcPts val="1200"/>
              </a:spcBef>
              <a:spcAft>
                <a:spcPts val="0"/>
              </a:spcAft>
              <a:buSzPts val="1300"/>
              <a:buChar char="-"/>
            </a:pPr>
            <a:r>
              <a:rPr lang="en"/>
              <a:t>AML / KYC</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pic>
        <p:nvPicPr>
          <p:cNvPr id="552" name="Google Shape;552;p53"/>
          <p:cNvPicPr preferRelativeResize="0"/>
          <p:nvPr/>
        </p:nvPicPr>
        <p:blipFill rotWithShape="1">
          <a:blip r:embed="rId3">
            <a:alphaModFix/>
          </a:blip>
          <a:srcRect b="5830" l="0" r="0" t="-5830"/>
          <a:stretch/>
        </p:blipFill>
        <p:spPr>
          <a:xfrm>
            <a:off x="-553850" y="2917475"/>
            <a:ext cx="2299401" cy="2299401"/>
          </a:xfrm>
          <a:prstGeom prst="rect">
            <a:avLst/>
          </a:prstGeom>
          <a:noFill/>
          <a:ln>
            <a:noFill/>
          </a:ln>
        </p:spPr>
      </p:pic>
      <p:sp>
        <p:nvSpPr>
          <p:cNvPr id="553" name="Google Shape;553;p53"/>
          <p:cNvSpPr txBox="1"/>
          <p:nvPr>
            <p:ph type="ctrTitle"/>
          </p:nvPr>
        </p:nvSpPr>
        <p:spPr>
          <a:xfrm>
            <a:off x="4273725" y="2242050"/>
            <a:ext cx="5017500" cy="65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latin typeface="Work Sans"/>
                <a:ea typeface="Work Sans"/>
                <a:cs typeface="Work Sans"/>
                <a:sym typeface="Work Sans"/>
              </a:rPr>
              <a:t>Q&amp;A</a:t>
            </a:r>
            <a:endParaRPr sz="2800">
              <a:latin typeface="Work Sans"/>
              <a:ea typeface="Work Sans"/>
              <a:cs typeface="Work Sans"/>
              <a:sym typeface="Work Sans"/>
            </a:endParaRPr>
          </a:p>
        </p:txBody>
      </p:sp>
      <p:pic>
        <p:nvPicPr>
          <p:cNvPr id="554" name="Google Shape;554;p53"/>
          <p:cNvPicPr preferRelativeResize="0"/>
          <p:nvPr/>
        </p:nvPicPr>
        <p:blipFill>
          <a:blip r:embed="rId3">
            <a:alphaModFix/>
          </a:blip>
          <a:stretch>
            <a:fillRect/>
          </a:stretch>
        </p:blipFill>
        <p:spPr>
          <a:xfrm>
            <a:off x="-553850" y="-832550"/>
            <a:ext cx="3404298" cy="3404298"/>
          </a:xfrm>
          <a:prstGeom prst="rect">
            <a:avLst/>
          </a:prstGeom>
          <a:noFill/>
          <a:ln>
            <a:noFill/>
          </a:ln>
        </p:spPr>
      </p:pic>
      <p:pic>
        <p:nvPicPr>
          <p:cNvPr id="555" name="Google Shape;555;p53"/>
          <p:cNvPicPr preferRelativeResize="0"/>
          <p:nvPr/>
        </p:nvPicPr>
        <p:blipFill>
          <a:blip r:embed="rId4">
            <a:alphaModFix/>
          </a:blip>
          <a:stretch>
            <a:fillRect/>
          </a:stretch>
        </p:blipFill>
        <p:spPr>
          <a:xfrm>
            <a:off x="459275" y="673125"/>
            <a:ext cx="2779176" cy="2779176"/>
          </a:xfrm>
          <a:prstGeom prst="rect">
            <a:avLst/>
          </a:prstGeom>
          <a:noFill/>
          <a:ln>
            <a:noFill/>
          </a:ln>
        </p:spPr>
      </p:pic>
      <p:pic>
        <p:nvPicPr>
          <p:cNvPr id="556" name="Google Shape;556;p53"/>
          <p:cNvPicPr preferRelativeResize="0"/>
          <p:nvPr/>
        </p:nvPicPr>
        <p:blipFill>
          <a:blip r:embed="rId4">
            <a:alphaModFix/>
          </a:blip>
          <a:stretch>
            <a:fillRect/>
          </a:stretch>
        </p:blipFill>
        <p:spPr>
          <a:xfrm rot="6991265">
            <a:off x="-515887" y="1626675"/>
            <a:ext cx="2779176" cy="2779176"/>
          </a:xfrm>
          <a:prstGeom prst="rect">
            <a:avLst/>
          </a:prstGeom>
          <a:noFill/>
          <a:ln>
            <a:noFill/>
          </a:ln>
        </p:spPr>
      </p:pic>
      <p:pic>
        <p:nvPicPr>
          <p:cNvPr id="557" name="Google Shape;557;p53"/>
          <p:cNvPicPr preferRelativeResize="0"/>
          <p:nvPr/>
        </p:nvPicPr>
        <p:blipFill>
          <a:blip r:embed="rId5">
            <a:alphaModFix/>
          </a:blip>
          <a:stretch>
            <a:fillRect/>
          </a:stretch>
        </p:blipFill>
        <p:spPr>
          <a:xfrm>
            <a:off x="1519050" y="4827000"/>
            <a:ext cx="6105876" cy="60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